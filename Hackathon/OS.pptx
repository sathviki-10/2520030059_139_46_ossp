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5014" y="542924"/>
            <a:ext cx="9201149" cy="920114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44597" y="-2770"/>
            <a:ext cx="7946172" cy="63738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36977" y="1103861"/>
            <a:ext cx="9006840" cy="1496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39663" y="2831958"/>
            <a:ext cx="12748260" cy="5893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10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31.png"/><Relationship Id="rId4" Type="http://schemas.openxmlformats.org/officeDocument/2006/relationships/image" Target="../media/image7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3587" y="5806884"/>
            <a:ext cx="4854411" cy="448011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450678" cy="731646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79887" y="1553749"/>
            <a:ext cx="15753080" cy="2510155"/>
          </a:xfrm>
          <a:prstGeom prst="rect"/>
        </p:spPr>
        <p:txBody>
          <a:bodyPr wrap="square" lIns="0" tIns="109220" rIns="0" bIns="0" rtlCol="0" vert="horz">
            <a:spAutoFit/>
          </a:bodyPr>
          <a:lstStyle/>
          <a:p>
            <a:pPr marL="12700" marR="5080">
              <a:lnSpc>
                <a:spcPts val="9450"/>
              </a:lnSpc>
              <a:spcBef>
                <a:spcPts val="860"/>
              </a:spcBef>
            </a:pPr>
            <a:r>
              <a:rPr dirty="0" sz="8400" spc="-1130"/>
              <a:t>LINUX</a:t>
            </a:r>
            <a:r>
              <a:rPr dirty="0" sz="8400" spc="-425"/>
              <a:t> </a:t>
            </a:r>
            <a:r>
              <a:rPr dirty="0" sz="8400" spc="-1005"/>
              <a:t>PROCESS</a:t>
            </a:r>
            <a:r>
              <a:rPr dirty="0" sz="8400" spc="-420"/>
              <a:t> </a:t>
            </a:r>
            <a:r>
              <a:rPr dirty="0" sz="8400" spc="-1225"/>
              <a:t>CREATION,</a:t>
            </a:r>
            <a:r>
              <a:rPr dirty="0" sz="8400" spc="-425"/>
              <a:t> </a:t>
            </a:r>
            <a:r>
              <a:rPr dirty="0" sz="8400" spc="-1290"/>
              <a:t>EXECUTION</a:t>
            </a:r>
            <a:r>
              <a:rPr dirty="0" sz="8400" spc="-420"/>
              <a:t> </a:t>
            </a:r>
            <a:r>
              <a:rPr dirty="0" sz="8400" spc="-1270"/>
              <a:t>AND </a:t>
            </a:r>
            <a:r>
              <a:rPr dirty="0" sz="8400" spc="-1170"/>
              <a:t>TERMINATION</a:t>
            </a:r>
            <a:r>
              <a:rPr dirty="0" sz="8400" spc="-500"/>
              <a:t> </a:t>
            </a:r>
            <a:r>
              <a:rPr dirty="0" sz="8400" spc="-900"/>
              <a:t>SYSTEM</a:t>
            </a:r>
            <a:r>
              <a:rPr dirty="0" sz="8400" spc="-495"/>
              <a:t> </a:t>
            </a:r>
            <a:r>
              <a:rPr dirty="0" sz="8400" spc="-1115"/>
              <a:t>CALLS</a:t>
            </a:r>
            <a:endParaRPr sz="8400"/>
          </a:p>
        </p:txBody>
      </p:sp>
      <p:sp>
        <p:nvSpPr>
          <p:cNvPr id="5" name="object 5"/>
          <p:cNvSpPr txBox="1"/>
          <p:nvPr/>
        </p:nvSpPr>
        <p:spPr>
          <a:xfrm>
            <a:off x="10382059" y="6379148"/>
            <a:ext cx="5871845" cy="346011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80"/>
              </a:spcBef>
            </a:pPr>
            <a:r>
              <a:rPr dirty="0" sz="3850" spc="114">
                <a:solidFill>
                  <a:srgbClr val="FFFFFF"/>
                </a:solidFill>
                <a:latin typeface="Lucida Sans Unicode"/>
                <a:cs typeface="Lucida Sans Unicode"/>
              </a:rPr>
              <a:t>Section</a:t>
            </a:r>
            <a:r>
              <a:rPr dirty="0" sz="3850" spc="-229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dirty="0" sz="3850" spc="-229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5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38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dirty="0" sz="3850" spc="195">
                <a:solidFill>
                  <a:srgbClr val="FFFFFF"/>
                </a:solidFill>
                <a:latin typeface="Lucida Sans Unicode"/>
                <a:cs typeface="Lucida Sans Unicode"/>
              </a:rPr>
              <a:t>Team</a:t>
            </a:r>
            <a:r>
              <a:rPr dirty="0" sz="3850" spc="-229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dirty="0" sz="3850" spc="-2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50">
                <a:solidFill>
                  <a:srgbClr val="FFFFFF"/>
                </a:solidFill>
                <a:latin typeface="Lucida Sans Unicode"/>
                <a:cs typeface="Lucida Sans Unicode"/>
              </a:rPr>
              <a:t>2</a:t>
            </a:r>
            <a:endParaRPr sz="38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dirty="0" sz="3850" spc="-60">
                <a:solidFill>
                  <a:srgbClr val="FFFFFF"/>
                </a:solidFill>
                <a:latin typeface="Lucida Sans Unicode"/>
                <a:cs typeface="Lucida Sans Unicode"/>
              </a:rPr>
              <a:t>2520030046</a:t>
            </a:r>
            <a:r>
              <a:rPr dirty="0" sz="385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dirty="0" sz="385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180">
                <a:solidFill>
                  <a:srgbClr val="FFFFFF"/>
                </a:solidFill>
                <a:latin typeface="Lucida Sans Unicode"/>
                <a:cs typeface="Lucida Sans Unicode"/>
              </a:rPr>
              <a:t>Pavani</a:t>
            </a:r>
            <a:endParaRPr sz="3850">
              <a:latin typeface="Lucida Sans Unicode"/>
              <a:cs typeface="Lucida Sans Unicode"/>
            </a:endParaRPr>
          </a:p>
          <a:p>
            <a:pPr algn="ctr" marL="12700" marR="5080">
              <a:lnSpc>
                <a:spcPts val="5410"/>
              </a:lnSpc>
              <a:spcBef>
                <a:spcPts val="110"/>
              </a:spcBef>
            </a:pPr>
            <a:r>
              <a:rPr dirty="0" sz="3850" spc="-60">
                <a:solidFill>
                  <a:srgbClr val="FFFFFF"/>
                </a:solidFill>
                <a:latin typeface="Lucida Sans Unicode"/>
                <a:cs typeface="Lucida Sans Unicode"/>
              </a:rPr>
              <a:t>2520030059</a:t>
            </a:r>
            <a:r>
              <a:rPr dirty="0" sz="3850" spc="-2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dirty="0" sz="3850" spc="-2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10">
                <a:solidFill>
                  <a:srgbClr val="FFFFFF"/>
                </a:solidFill>
                <a:latin typeface="Lucida Sans Unicode"/>
                <a:cs typeface="Lucida Sans Unicode"/>
              </a:rPr>
              <a:t>Y.Sathviki </a:t>
            </a:r>
            <a:r>
              <a:rPr dirty="0" sz="3850" spc="-210">
                <a:solidFill>
                  <a:srgbClr val="FFFFFF"/>
                </a:solidFill>
                <a:latin typeface="Lucida Sans Unicode"/>
                <a:cs typeface="Lucida Sans Unicode"/>
              </a:rPr>
              <a:t>2520030139</a:t>
            </a:r>
            <a:r>
              <a:rPr dirty="0" sz="385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>
                <a:solidFill>
                  <a:srgbClr val="FFFFFF"/>
                </a:solidFill>
                <a:latin typeface="Lucida Sans Unicode"/>
                <a:cs typeface="Lucida Sans Unicode"/>
              </a:rPr>
              <a:t>-</a:t>
            </a:r>
            <a:r>
              <a:rPr dirty="0" sz="385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275">
                <a:solidFill>
                  <a:srgbClr val="FFFFFF"/>
                </a:solidFill>
                <a:latin typeface="Lucida Sans Unicode"/>
                <a:cs typeface="Lucida Sans Unicode"/>
              </a:rPr>
              <a:t>N.</a:t>
            </a:r>
            <a:r>
              <a:rPr dirty="0" sz="385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850" spc="-10">
                <a:solidFill>
                  <a:srgbClr val="FFFFFF"/>
                </a:solidFill>
                <a:latin typeface="Lucida Sans Unicode"/>
                <a:cs typeface="Lucida Sans Unicode"/>
              </a:rPr>
              <a:t>Tejasri</a:t>
            </a:r>
            <a:endParaRPr sz="38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397500" cy="10276840"/>
            <a:chOff x="0" y="0"/>
            <a:chExt cx="5397500" cy="10276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23075" cy="43832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657" y="1030250"/>
              <a:ext cx="4930833" cy="9246142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17122" y="4900272"/>
            <a:ext cx="4370877" cy="538672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955238" y="3849776"/>
            <a:ext cx="11316970" cy="5058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900"/>
              </a:lnSpc>
              <a:spcBef>
                <a:spcPts val="100"/>
              </a:spcBef>
            </a:pP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85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140">
                <a:solidFill>
                  <a:srgbClr val="FFFFFF"/>
                </a:solidFill>
                <a:latin typeface="Lucida Sans Unicode"/>
                <a:cs typeface="Lucida Sans Unicode"/>
              </a:rPr>
              <a:t>Linux</a:t>
            </a:r>
            <a:r>
              <a:rPr dirty="0" sz="285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70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285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Creation,</a:t>
            </a:r>
            <a:r>
              <a:rPr dirty="0" sz="285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Execution</a:t>
            </a:r>
            <a:r>
              <a:rPr dirty="0" sz="285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16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85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Termination</a:t>
            </a:r>
            <a:r>
              <a:rPr dirty="0" sz="285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95">
                <a:solidFill>
                  <a:srgbClr val="FFFFFF"/>
                </a:solidFill>
                <a:latin typeface="Lucida Sans Unicode"/>
                <a:cs typeface="Lucida Sans Unicode"/>
              </a:rPr>
              <a:t>System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dirty="0" sz="2850" spc="555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 spc="75">
                <a:solidFill>
                  <a:srgbClr val="FFFFFF"/>
                </a:solidFill>
                <a:latin typeface="Lucida Sans Unicode"/>
                <a:cs typeface="Lucida Sans Unicode"/>
              </a:rPr>
              <a:t>designed</a:t>
            </a:r>
            <a:r>
              <a:rPr dirty="0" sz="2850" spc="555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850" spc="555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 spc="90">
                <a:solidFill>
                  <a:srgbClr val="FFFFFF"/>
                </a:solidFill>
                <a:latin typeface="Lucida Sans Unicode"/>
                <a:cs typeface="Lucida Sans Unicode"/>
              </a:rPr>
              <a:t>demonstrate</a:t>
            </a:r>
            <a:r>
              <a:rPr dirty="0" sz="2850" spc="555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 spc="6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850" spc="55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 spc="95">
                <a:solidFill>
                  <a:srgbClr val="FFFFFF"/>
                </a:solidFill>
                <a:latin typeface="Lucida Sans Unicode"/>
                <a:cs typeface="Lucida Sans Unicode"/>
              </a:rPr>
              <a:t>fundamental</a:t>
            </a:r>
            <a:r>
              <a:rPr dirty="0" sz="2850" spc="555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 spc="65">
                <a:solidFill>
                  <a:srgbClr val="FFFFFF"/>
                </a:solidFill>
                <a:latin typeface="Lucida Sans Unicode"/>
                <a:cs typeface="Lucida Sans Unicode"/>
              </a:rPr>
              <a:t>process </a:t>
            </a:r>
            <a:r>
              <a:rPr dirty="0" sz="2850" spc="170">
                <a:solidFill>
                  <a:srgbClr val="FFFFFF"/>
                </a:solidFill>
                <a:latin typeface="Lucida Sans Unicode"/>
                <a:cs typeface="Lucida Sans Unicode"/>
              </a:rPr>
              <a:t>management</a:t>
            </a:r>
            <a:r>
              <a:rPr dirty="0" sz="2850" spc="5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50">
                <a:solidFill>
                  <a:srgbClr val="FFFFFF"/>
                </a:solidFill>
                <a:latin typeface="Lucida Sans Unicode"/>
                <a:cs typeface="Lucida Sans Unicode"/>
              </a:rPr>
              <a:t>operations</a:t>
            </a:r>
            <a:r>
              <a:rPr dirty="0" sz="2850" spc="5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55">
                <a:solidFill>
                  <a:srgbClr val="FFFFFF"/>
                </a:solidFill>
                <a:latin typeface="Lucida Sans Unicode"/>
                <a:cs typeface="Lucida Sans Unicode"/>
              </a:rPr>
              <a:t>performed</a:t>
            </a:r>
            <a:r>
              <a:rPr dirty="0" sz="2850" spc="5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100">
                <a:solidFill>
                  <a:srgbClr val="FFFFFF"/>
                </a:solidFill>
                <a:latin typeface="Lucida Sans Unicode"/>
                <a:cs typeface="Lucida Sans Unicode"/>
              </a:rPr>
              <a:t>by</a:t>
            </a:r>
            <a:r>
              <a:rPr dirty="0" sz="2850" spc="5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6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850" spc="5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Linux</a:t>
            </a:r>
            <a:r>
              <a:rPr dirty="0" sz="2850" spc="5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55">
                <a:solidFill>
                  <a:srgbClr val="FFFFFF"/>
                </a:solidFill>
                <a:latin typeface="Lucida Sans Unicode"/>
                <a:cs typeface="Lucida Sans Unicode"/>
              </a:rPr>
              <a:t>operating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system.</a:t>
            </a:r>
            <a:r>
              <a:rPr dirty="0" sz="2850" spc="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850" spc="1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90">
                <a:solidFill>
                  <a:srgbClr val="FFFFFF"/>
                </a:solidFill>
                <a:latin typeface="Lucida Sans Unicode"/>
                <a:cs typeface="Lucida Sans Unicode"/>
              </a:rPr>
              <a:t>system</a:t>
            </a:r>
            <a:r>
              <a:rPr dirty="0" sz="2850" spc="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65">
                <a:solidFill>
                  <a:srgbClr val="FFFFFF"/>
                </a:solidFill>
                <a:latin typeface="Lucida Sans Unicode"/>
                <a:cs typeface="Lucida Sans Unicode"/>
              </a:rPr>
              <a:t>uses</a:t>
            </a:r>
            <a:r>
              <a:rPr dirty="0" sz="2850" spc="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55">
                <a:solidFill>
                  <a:srgbClr val="FFFFFF"/>
                </a:solidFill>
                <a:latin typeface="Lucida Sans Unicode"/>
                <a:cs typeface="Lucida Sans Unicode"/>
              </a:rPr>
              <a:t>fork()</a:t>
            </a:r>
            <a:r>
              <a:rPr dirty="0" sz="2850" spc="1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850" spc="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130">
                <a:solidFill>
                  <a:srgbClr val="FFFFFF"/>
                </a:solidFill>
                <a:latin typeface="Lucida Sans Unicode"/>
                <a:cs typeface="Lucida Sans Unicode"/>
              </a:rPr>
              <a:t>create</a:t>
            </a:r>
            <a:r>
              <a:rPr dirty="0" sz="2850" spc="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processes,</a:t>
            </a:r>
            <a:r>
              <a:rPr dirty="0" sz="2850" spc="150">
                <a:solidFill>
                  <a:srgbClr val="FFFFFF"/>
                </a:solidFill>
                <a:latin typeface="Lucida Sans Unicode"/>
                <a:cs typeface="Lucida Sans Unicode"/>
              </a:rPr>
              <a:t> exec()</a:t>
            </a:r>
            <a:r>
              <a:rPr dirty="0" sz="2850" spc="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25">
                <a:solidFill>
                  <a:srgbClr val="FFFFFF"/>
                </a:solidFill>
                <a:latin typeface="Lucida Sans Unicode"/>
                <a:cs typeface="Lucida Sans Unicode"/>
              </a:rPr>
              <a:t>to </a:t>
            </a:r>
            <a:r>
              <a:rPr dirty="0" sz="2850" spc="50">
                <a:solidFill>
                  <a:srgbClr val="FFFFFF"/>
                </a:solidFill>
                <a:latin typeface="Lucida Sans Unicode"/>
                <a:cs typeface="Lucida Sans Unicode"/>
              </a:rPr>
              <a:t>execute</a:t>
            </a:r>
            <a:r>
              <a:rPr dirty="0" sz="2850" spc="35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programs,</a:t>
            </a:r>
            <a:r>
              <a:rPr dirty="0" sz="2850" spc="4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 spc="165">
                <a:solidFill>
                  <a:srgbClr val="FFFFFF"/>
                </a:solidFill>
                <a:latin typeface="Lucida Sans Unicode"/>
                <a:cs typeface="Lucida Sans Unicode"/>
              </a:rPr>
              <a:t>wait()</a:t>
            </a:r>
            <a:r>
              <a:rPr dirty="0" sz="2850" spc="35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850" spc="4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synchronize</a:t>
            </a:r>
            <a:r>
              <a:rPr dirty="0" sz="2850" spc="35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 spc="85">
                <a:solidFill>
                  <a:srgbClr val="FFFFFF"/>
                </a:solidFill>
                <a:latin typeface="Lucida Sans Unicode"/>
                <a:cs typeface="Lucida Sans Unicode"/>
              </a:rPr>
              <a:t>parent</a:t>
            </a:r>
            <a:r>
              <a:rPr dirty="0" sz="2850" spc="4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 spc="16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850" spc="35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 spc="-10">
                <a:solidFill>
                  <a:srgbClr val="FFFFFF"/>
                </a:solidFill>
                <a:latin typeface="Lucida Sans Unicode"/>
                <a:cs typeface="Lucida Sans Unicode"/>
              </a:rPr>
              <a:t>child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processes,</a:t>
            </a:r>
            <a:r>
              <a:rPr dirty="0" sz="2850" spc="11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 spc="16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850" spc="125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 spc="50">
                <a:solidFill>
                  <a:srgbClr val="FFFFFF"/>
                </a:solidFill>
                <a:latin typeface="Lucida Sans Unicode"/>
                <a:cs typeface="Lucida Sans Unicode"/>
              </a:rPr>
              <a:t>exit()</a:t>
            </a:r>
            <a:r>
              <a:rPr dirty="0" sz="2850" spc="125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850" spc="12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 spc="70">
                <a:solidFill>
                  <a:srgbClr val="FFFFFF"/>
                </a:solidFill>
                <a:latin typeface="Lucida Sans Unicode"/>
                <a:cs typeface="Lucida Sans Unicode"/>
              </a:rPr>
              <a:t>terminate</a:t>
            </a:r>
            <a:r>
              <a:rPr dirty="0" sz="2850" spc="125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processes.</a:t>
            </a:r>
            <a:r>
              <a:rPr dirty="0" sz="2850" spc="12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850" spc="125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 spc="-10">
                <a:solidFill>
                  <a:srgbClr val="FFFFFF"/>
                </a:solidFill>
                <a:latin typeface="Lucida Sans Unicode"/>
                <a:cs typeface="Lucida Sans Unicode"/>
              </a:rPr>
              <a:t>project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provides</a:t>
            </a:r>
            <a:r>
              <a:rPr dirty="0" sz="2850" spc="5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345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850" spc="5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95">
                <a:solidFill>
                  <a:srgbClr val="FFFFFF"/>
                </a:solidFill>
                <a:latin typeface="Lucida Sans Unicode"/>
                <a:cs typeface="Lucida Sans Unicode"/>
              </a:rPr>
              <a:t>practical</a:t>
            </a:r>
            <a:r>
              <a:rPr dirty="0" sz="2850" spc="5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60">
                <a:solidFill>
                  <a:srgbClr val="FFFFFF"/>
                </a:solidFill>
                <a:latin typeface="Lucida Sans Unicode"/>
                <a:cs typeface="Lucida Sans Unicode"/>
              </a:rPr>
              <a:t>understanding</a:t>
            </a:r>
            <a:r>
              <a:rPr dirty="0" sz="2850" spc="5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2850" spc="5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6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850" spc="5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75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2850" spc="5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10">
                <a:solidFill>
                  <a:srgbClr val="FFFFFF"/>
                </a:solidFill>
                <a:latin typeface="Lucida Sans Unicode"/>
                <a:cs typeface="Lucida Sans Unicode"/>
              </a:rPr>
              <a:t>lifecycle, </a:t>
            </a:r>
            <a:r>
              <a:rPr dirty="0" sz="2850" spc="60">
                <a:solidFill>
                  <a:srgbClr val="FFFFFF"/>
                </a:solidFill>
                <a:latin typeface="Lucida Sans Unicode"/>
                <a:cs typeface="Lucida Sans Unicode"/>
              </a:rPr>
              <a:t>parent-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child</a:t>
            </a:r>
            <a:r>
              <a:rPr dirty="0" sz="2850" spc="61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relationships,</a:t>
            </a:r>
            <a:r>
              <a:rPr dirty="0" sz="2850" spc="62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 spc="75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2850" spc="62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synchronization,</a:t>
            </a:r>
            <a:r>
              <a:rPr dirty="0" sz="2850" spc="62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 spc="140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termination,</a:t>
            </a:r>
            <a:r>
              <a:rPr dirty="0" sz="2850" spc="-5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 spc="75">
                <a:solidFill>
                  <a:srgbClr val="FFFFFF"/>
                </a:solidFill>
                <a:latin typeface="Lucida Sans Unicode"/>
                <a:cs typeface="Lucida Sans Unicode"/>
              </a:rPr>
              <a:t>making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  Linux  </a:t>
            </a:r>
            <a:r>
              <a:rPr dirty="0" sz="2850" spc="75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 spc="170">
                <a:solidFill>
                  <a:srgbClr val="FFFFFF"/>
                </a:solidFill>
                <a:latin typeface="Lucida Sans Unicode"/>
                <a:cs typeface="Lucida Sans Unicode"/>
              </a:rPr>
              <a:t>management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 spc="75">
                <a:solidFill>
                  <a:srgbClr val="FFFFFF"/>
                </a:solidFill>
                <a:latin typeface="Lucida Sans Unicode"/>
                <a:cs typeface="Lucida Sans Unicode"/>
              </a:rPr>
              <a:t>easier</a:t>
            </a:r>
            <a:r>
              <a:rPr dirty="0" sz="2850" spc="-5">
                <a:solidFill>
                  <a:srgbClr val="FFFFFF"/>
                </a:solidFill>
                <a:latin typeface="Lucida Sans Unicode"/>
                <a:cs typeface="Lucida Sans Unicode"/>
              </a:rPr>
              <a:t>  </a:t>
            </a:r>
            <a:r>
              <a:rPr dirty="0" sz="2850" spc="-25">
                <a:solidFill>
                  <a:srgbClr val="FFFFFF"/>
                </a:solidFill>
                <a:latin typeface="Lucida Sans Unicode"/>
                <a:cs typeface="Lucida Sans Unicode"/>
              </a:rPr>
              <a:t>to </a:t>
            </a:r>
            <a:r>
              <a:rPr dirty="0" sz="2850" spc="70">
                <a:solidFill>
                  <a:srgbClr val="FFFFFF"/>
                </a:solidFill>
                <a:latin typeface="Lucida Sans Unicode"/>
                <a:cs typeface="Lucida Sans Unicode"/>
              </a:rPr>
              <a:t>understand</a:t>
            </a:r>
            <a:r>
              <a:rPr dirty="0" sz="28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16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85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10">
                <a:solidFill>
                  <a:srgbClr val="FFFFFF"/>
                </a:solidFill>
                <a:latin typeface="Lucida Sans Unicode"/>
                <a:cs typeface="Lucida Sans Unicode"/>
              </a:rPr>
              <a:t>implement.</a:t>
            </a:r>
            <a:endParaRPr sz="2850">
              <a:latin typeface="Lucida Sans Unicode"/>
              <a:cs typeface="Lucida Sans Unicode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8722671" y="1584090"/>
            <a:ext cx="4439920" cy="15093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700" spc="-1240"/>
              <a:t>ABSTRACT</a:t>
            </a:r>
            <a:endParaRPr sz="9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42925"/>
            <a:ext cx="13122910" cy="9743440"/>
            <a:chOff x="0" y="542925"/>
            <a:chExt cx="13122910" cy="97434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32784"/>
              <a:ext cx="3919787" cy="385322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1492" y="542925"/>
              <a:ext cx="9201149" cy="920114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305397" y="3800750"/>
            <a:ext cx="14494510" cy="50704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065" marR="5080">
              <a:lnSpc>
                <a:spcPct val="116799"/>
              </a:lnSpc>
              <a:spcBef>
                <a:spcPts val="90"/>
              </a:spcBef>
            </a:pPr>
            <a:r>
              <a:rPr dirty="0" sz="4050" spc="90">
                <a:solidFill>
                  <a:srgbClr val="FFFFFF"/>
                </a:solidFill>
                <a:latin typeface="Lucida Sans Unicode"/>
                <a:cs typeface="Lucida Sans Unicode"/>
              </a:rPr>
              <a:t>Understanding</a:t>
            </a:r>
            <a:r>
              <a:rPr dirty="0" sz="405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114">
                <a:solidFill>
                  <a:srgbClr val="FFFFFF"/>
                </a:solidFill>
                <a:latin typeface="Lucida Sans Unicode"/>
                <a:cs typeface="Lucida Sans Unicode"/>
              </a:rPr>
              <a:t>how</a:t>
            </a:r>
            <a:r>
              <a:rPr dirty="0" sz="405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-210">
                <a:solidFill>
                  <a:srgbClr val="FFFFFF"/>
                </a:solidFill>
                <a:latin typeface="Lucida Sans Unicode"/>
                <a:cs typeface="Lucida Sans Unicode"/>
              </a:rPr>
              <a:t>Linux</a:t>
            </a:r>
            <a:r>
              <a:rPr dirty="0" sz="405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285">
                <a:solidFill>
                  <a:srgbClr val="FFFFFF"/>
                </a:solidFill>
                <a:latin typeface="Lucida Sans Unicode"/>
                <a:cs typeface="Lucida Sans Unicode"/>
              </a:rPr>
              <a:t>manages</a:t>
            </a:r>
            <a:r>
              <a:rPr dirty="0" sz="405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130">
                <a:solidFill>
                  <a:srgbClr val="FFFFFF"/>
                </a:solidFill>
                <a:latin typeface="Lucida Sans Unicode"/>
                <a:cs typeface="Lucida Sans Unicode"/>
              </a:rPr>
              <a:t>processes</a:t>
            </a:r>
            <a:r>
              <a:rPr dirty="0" sz="405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dirty="0" sz="405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-10">
                <a:solidFill>
                  <a:srgbClr val="FFFFFF"/>
                </a:solidFill>
                <a:latin typeface="Lucida Sans Unicode"/>
                <a:cs typeface="Lucida Sans Unicode"/>
              </a:rPr>
              <a:t>difficult </a:t>
            </a:r>
            <a:r>
              <a:rPr dirty="0" sz="4050" spc="45">
                <a:solidFill>
                  <a:srgbClr val="FFFFFF"/>
                </a:solidFill>
                <a:latin typeface="Lucida Sans Unicode"/>
                <a:cs typeface="Lucida Sans Unicode"/>
              </a:rPr>
              <a:t>through</a:t>
            </a:r>
            <a:r>
              <a:rPr dirty="0" sz="405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60">
                <a:solidFill>
                  <a:srgbClr val="FFFFFF"/>
                </a:solidFill>
                <a:latin typeface="Lucida Sans Unicode"/>
                <a:cs typeface="Lucida Sans Unicode"/>
              </a:rPr>
              <a:t>theory</a:t>
            </a:r>
            <a:r>
              <a:rPr dirty="0" sz="405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>
                <a:solidFill>
                  <a:srgbClr val="FFFFFF"/>
                </a:solidFill>
                <a:latin typeface="Lucida Sans Unicode"/>
                <a:cs typeface="Lucida Sans Unicode"/>
              </a:rPr>
              <a:t>alone.</a:t>
            </a:r>
            <a:r>
              <a:rPr dirty="0" sz="405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-105">
                <a:solidFill>
                  <a:srgbClr val="FFFFFF"/>
                </a:solidFill>
                <a:latin typeface="Lucida Sans Unicode"/>
                <a:cs typeface="Lucida Sans Unicode"/>
              </a:rPr>
              <a:t>This</a:t>
            </a:r>
            <a:r>
              <a:rPr dirty="0" sz="405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70">
                <a:solidFill>
                  <a:srgbClr val="FFFFFF"/>
                </a:solidFill>
                <a:latin typeface="Lucida Sans Unicode"/>
                <a:cs typeface="Lucida Sans Unicode"/>
              </a:rPr>
              <a:t>project</a:t>
            </a:r>
            <a:r>
              <a:rPr dirty="0" sz="405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200">
                <a:solidFill>
                  <a:srgbClr val="FFFFFF"/>
                </a:solidFill>
                <a:latin typeface="Lucida Sans Unicode"/>
                <a:cs typeface="Lucida Sans Unicode"/>
              </a:rPr>
              <a:t>aims</a:t>
            </a:r>
            <a:r>
              <a:rPr dirty="0" sz="405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405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135">
                <a:solidFill>
                  <a:srgbClr val="FFFFFF"/>
                </a:solidFill>
                <a:latin typeface="Lucida Sans Unicode"/>
                <a:cs typeface="Lucida Sans Unicode"/>
              </a:rPr>
              <a:t>develop</a:t>
            </a:r>
            <a:r>
              <a:rPr dirty="0" sz="405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459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dirty="0" sz="4050" spc="90">
                <a:solidFill>
                  <a:srgbClr val="FFFFFF"/>
                </a:solidFill>
                <a:latin typeface="Lucida Sans Unicode"/>
                <a:cs typeface="Lucida Sans Unicode"/>
              </a:rPr>
              <a:t>simple</a:t>
            </a:r>
            <a:r>
              <a:rPr dirty="0" sz="405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150">
                <a:solidFill>
                  <a:srgbClr val="FFFFFF"/>
                </a:solidFill>
                <a:latin typeface="Lucida Sans Unicode"/>
                <a:cs typeface="Lucida Sans Unicode"/>
              </a:rPr>
              <a:t>system</a:t>
            </a:r>
            <a:r>
              <a:rPr dirty="0" sz="405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125">
                <a:solidFill>
                  <a:srgbClr val="FFFFFF"/>
                </a:solidFill>
                <a:latin typeface="Lucida Sans Unicode"/>
                <a:cs typeface="Lucida Sans Unicode"/>
              </a:rPr>
              <a:t>that</a:t>
            </a:r>
            <a:r>
              <a:rPr dirty="0" sz="405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135">
                <a:solidFill>
                  <a:srgbClr val="FFFFFF"/>
                </a:solidFill>
                <a:latin typeface="Lucida Sans Unicode"/>
                <a:cs typeface="Lucida Sans Unicode"/>
              </a:rPr>
              <a:t>demonstrates</a:t>
            </a:r>
            <a:r>
              <a:rPr dirty="0" sz="405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125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405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35">
                <a:solidFill>
                  <a:srgbClr val="FFFFFF"/>
                </a:solidFill>
                <a:latin typeface="Lucida Sans Unicode"/>
                <a:cs typeface="Lucida Sans Unicode"/>
              </a:rPr>
              <a:t>creation, </a:t>
            </a:r>
            <a:r>
              <a:rPr dirty="0" sz="4050" spc="-10">
                <a:solidFill>
                  <a:srgbClr val="FFFFFF"/>
                </a:solidFill>
                <a:latin typeface="Lucida Sans Unicode"/>
                <a:cs typeface="Lucida Sans Unicode"/>
              </a:rPr>
              <a:t>execution,</a:t>
            </a:r>
            <a:r>
              <a:rPr dirty="0" sz="405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>
                <a:solidFill>
                  <a:srgbClr val="FFFFFF"/>
                </a:solidFill>
                <a:latin typeface="Lucida Sans Unicode"/>
                <a:cs typeface="Lucida Sans Unicode"/>
              </a:rPr>
              <a:t>synchronization,</a:t>
            </a:r>
            <a:r>
              <a:rPr dirty="0" sz="405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2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405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70">
                <a:solidFill>
                  <a:srgbClr val="FFFFFF"/>
                </a:solidFill>
                <a:latin typeface="Lucida Sans Unicode"/>
                <a:cs typeface="Lucida Sans Unicode"/>
              </a:rPr>
              <a:t>termination</a:t>
            </a:r>
            <a:r>
              <a:rPr dirty="0" sz="405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>
                <a:solidFill>
                  <a:srgbClr val="FFFFFF"/>
                </a:solidFill>
                <a:latin typeface="Lucida Sans Unicode"/>
                <a:cs typeface="Lucida Sans Unicode"/>
              </a:rPr>
              <a:t>using</a:t>
            </a:r>
            <a:r>
              <a:rPr dirty="0" sz="405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-10">
                <a:solidFill>
                  <a:srgbClr val="FFFFFF"/>
                </a:solidFill>
                <a:latin typeface="Lucida Sans Unicode"/>
                <a:cs typeface="Lucida Sans Unicode"/>
              </a:rPr>
              <a:t>Linux </a:t>
            </a:r>
            <a:r>
              <a:rPr dirty="0" sz="4050" spc="150">
                <a:solidFill>
                  <a:srgbClr val="FFFFFF"/>
                </a:solidFill>
                <a:latin typeface="Lucida Sans Unicode"/>
                <a:cs typeface="Lucida Sans Unicode"/>
              </a:rPr>
              <a:t>system</a:t>
            </a:r>
            <a:r>
              <a:rPr dirty="0" sz="405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114">
                <a:solidFill>
                  <a:srgbClr val="FFFFFF"/>
                </a:solidFill>
                <a:latin typeface="Lucida Sans Unicode"/>
                <a:cs typeface="Lucida Sans Unicode"/>
              </a:rPr>
              <a:t>calls</a:t>
            </a:r>
            <a:r>
              <a:rPr dirty="0" sz="405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145">
                <a:solidFill>
                  <a:srgbClr val="FFFFFF"/>
                </a:solidFill>
                <a:latin typeface="Lucida Sans Unicode"/>
                <a:cs typeface="Lucida Sans Unicode"/>
              </a:rPr>
              <a:t>such</a:t>
            </a:r>
            <a:r>
              <a:rPr dirty="0" sz="405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285">
                <a:solidFill>
                  <a:srgbClr val="FFFFFF"/>
                </a:solidFill>
                <a:latin typeface="Lucida Sans Unicode"/>
                <a:cs typeface="Lucida Sans Unicode"/>
              </a:rPr>
              <a:t>as</a:t>
            </a:r>
            <a:r>
              <a:rPr dirty="0" sz="405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>
                <a:solidFill>
                  <a:srgbClr val="FFFFFF"/>
                </a:solidFill>
                <a:latin typeface="Lucida Sans Unicode"/>
                <a:cs typeface="Lucida Sans Unicode"/>
              </a:rPr>
              <a:t>fork(),</a:t>
            </a:r>
            <a:r>
              <a:rPr dirty="0" sz="405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125">
                <a:solidFill>
                  <a:srgbClr val="FFFFFF"/>
                </a:solidFill>
                <a:latin typeface="Lucida Sans Unicode"/>
                <a:cs typeface="Lucida Sans Unicode"/>
              </a:rPr>
              <a:t>exec(),</a:t>
            </a:r>
            <a:r>
              <a:rPr dirty="0" sz="405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150">
                <a:solidFill>
                  <a:srgbClr val="FFFFFF"/>
                </a:solidFill>
                <a:latin typeface="Lucida Sans Unicode"/>
                <a:cs typeface="Lucida Sans Unicode"/>
              </a:rPr>
              <a:t>wait(),</a:t>
            </a:r>
            <a:r>
              <a:rPr dirty="0" sz="405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26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405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-10">
                <a:solidFill>
                  <a:srgbClr val="FFFFFF"/>
                </a:solidFill>
                <a:latin typeface="Lucida Sans Unicode"/>
                <a:cs typeface="Lucida Sans Unicode"/>
              </a:rPr>
              <a:t>exit(), </a:t>
            </a:r>
            <a:r>
              <a:rPr dirty="0" sz="4050" spc="45">
                <a:solidFill>
                  <a:srgbClr val="FFFFFF"/>
                </a:solidFill>
                <a:latin typeface="Lucida Sans Unicode"/>
                <a:cs typeface="Lucida Sans Unicode"/>
              </a:rPr>
              <a:t>providing</a:t>
            </a:r>
            <a:r>
              <a:rPr dirty="0" sz="405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509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405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160">
                <a:solidFill>
                  <a:srgbClr val="FFFFFF"/>
                </a:solidFill>
                <a:latin typeface="Lucida Sans Unicode"/>
                <a:cs typeface="Lucida Sans Unicode"/>
              </a:rPr>
              <a:t>clear</a:t>
            </a:r>
            <a:r>
              <a:rPr dirty="0" sz="405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160">
                <a:solidFill>
                  <a:srgbClr val="FFFFFF"/>
                </a:solidFill>
                <a:latin typeface="Lucida Sans Unicode"/>
                <a:cs typeface="Lucida Sans Unicode"/>
              </a:rPr>
              <a:t>practical</a:t>
            </a:r>
            <a:r>
              <a:rPr dirty="0" sz="405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100">
                <a:solidFill>
                  <a:srgbClr val="FFFFFF"/>
                </a:solidFill>
                <a:latin typeface="Lucida Sans Unicode"/>
                <a:cs typeface="Lucida Sans Unicode"/>
              </a:rPr>
              <a:t>understanding</a:t>
            </a:r>
            <a:r>
              <a:rPr dirty="0" sz="405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405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65">
                <a:solidFill>
                  <a:srgbClr val="FFFFFF"/>
                </a:solidFill>
                <a:latin typeface="Lucida Sans Unicode"/>
                <a:cs typeface="Lucida Sans Unicode"/>
              </a:rPr>
              <a:t>the </a:t>
            </a:r>
            <a:r>
              <a:rPr dirty="0" sz="4050" spc="170">
                <a:solidFill>
                  <a:srgbClr val="FFFFFF"/>
                </a:solidFill>
                <a:latin typeface="Lucida Sans Unicode"/>
                <a:cs typeface="Lucida Sans Unicode"/>
              </a:rPr>
              <a:t>complete</a:t>
            </a:r>
            <a:r>
              <a:rPr dirty="0" sz="405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125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405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50" spc="-10">
                <a:solidFill>
                  <a:srgbClr val="FFFFFF"/>
                </a:solidFill>
                <a:latin typeface="Lucida Sans Unicode"/>
                <a:cs typeface="Lucida Sans Unicode"/>
              </a:rPr>
              <a:t>lifecycle.</a:t>
            </a:r>
            <a:endParaRPr sz="4050">
              <a:latin typeface="Lucida Sans Unicode"/>
              <a:cs typeface="Lucida Sans Unicode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75"/>
              <a:t>PROBLEM</a:t>
            </a:r>
            <a:r>
              <a:rPr dirty="0" spc="-575"/>
              <a:t> </a:t>
            </a:r>
            <a:r>
              <a:rPr dirty="0" spc="-1460"/>
              <a:t>STATEMENT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783217" y="0"/>
            <a:ext cx="3504783" cy="31368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851347" cy="35051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3425" y="542925"/>
            <a:ext cx="9201149" cy="92011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14820" y="4811061"/>
            <a:ext cx="129093" cy="12909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14820" y="5327437"/>
            <a:ext cx="129093" cy="12909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14820" y="5843812"/>
            <a:ext cx="129093" cy="12909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14820" y="6876563"/>
            <a:ext cx="129093" cy="12909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14820" y="7392938"/>
            <a:ext cx="129093" cy="12909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14820" y="8425689"/>
            <a:ext cx="129093" cy="12909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01251" y="3506304"/>
            <a:ext cx="15172055" cy="57061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91440">
              <a:lnSpc>
                <a:spcPct val="116799"/>
              </a:lnSpc>
              <a:spcBef>
                <a:spcPts val="95"/>
              </a:spcBef>
            </a:pP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9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80">
                <a:solidFill>
                  <a:srgbClr val="FFFFFF"/>
                </a:solidFill>
                <a:latin typeface="Lucida Sans Unicode"/>
                <a:cs typeface="Lucida Sans Unicode"/>
              </a:rPr>
              <a:t>proposed</a:t>
            </a:r>
            <a:r>
              <a:rPr dirty="0" sz="29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50">
                <a:solidFill>
                  <a:srgbClr val="FFFFFF"/>
                </a:solidFill>
                <a:latin typeface="Lucida Sans Unicode"/>
                <a:cs typeface="Lucida Sans Unicode"/>
              </a:rPr>
              <a:t>Linux</a:t>
            </a:r>
            <a:r>
              <a:rPr dirty="0" sz="29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80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29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Creation,</a:t>
            </a:r>
            <a:r>
              <a:rPr dirty="0" sz="29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Execution</a:t>
            </a:r>
            <a:r>
              <a:rPr dirty="0" sz="29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18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9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Termination</a:t>
            </a:r>
            <a:r>
              <a:rPr dirty="0" sz="29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114">
                <a:solidFill>
                  <a:srgbClr val="FFFFFF"/>
                </a:solidFill>
                <a:latin typeface="Lucida Sans Unicode"/>
                <a:cs typeface="Lucida Sans Unicode"/>
              </a:rPr>
              <a:t>System</a:t>
            </a:r>
            <a:r>
              <a:rPr dirty="0" sz="29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45">
                <a:solidFill>
                  <a:srgbClr val="FFFFFF"/>
                </a:solidFill>
                <a:latin typeface="Lucida Sans Unicode"/>
                <a:cs typeface="Lucida Sans Unicode"/>
              </a:rPr>
              <a:t>provides </a:t>
            </a:r>
            <a:r>
              <a:rPr dirty="0" sz="2900" spc="365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90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60">
                <a:solidFill>
                  <a:srgbClr val="FFFFFF"/>
                </a:solidFill>
                <a:latin typeface="Lucida Sans Unicode"/>
                <a:cs typeface="Lucida Sans Unicode"/>
              </a:rPr>
              <a:t>simple</a:t>
            </a:r>
            <a:r>
              <a:rPr dirty="0" sz="29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18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9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110">
                <a:solidFill>
                  <a:srgbClr val="FFFFFF"/>
                </a:solidFill>
                <a:latin typeface="Lucida Sans Unicode"/>
                <a:cs typeface="Lucida Sans Unicode"/>
              </a:rPr>
              <a:t>practical</a:t>
            </a:r>
            <a:r>
              <a:rPr dirty="0" sz="29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55">
                <a:solidFill>
                  <a:srgbClr val="FFFFFF"/>
                </a:solidFill>
                <a:latin typeface="Lucida Sans Unicode"/>
                <a:cs typeface="Lucida Sans Unicode"/>
              </a:rPr>
              <a:t>platform</a:t>
            </a:r>
            <a:r>
              <a:rPr dirty="0" sz="29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9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100">
                <a:solidFill>
                  <a:srgbClr val="FFFFFF"/>
                </a:solidFill>
                <a:latin typeface="Lucida Sans Unicode"/>
                <a:cs typeface="Lucida Sans Unicode"/>
              </a:rPr>
              <a:t>demonstrate</a:t>
            </a:r>
            <a:r>
              <a:rPr dirty="0" sz="29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90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29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180">
                <a:solidFill>
                  <a:srgbClr val="FFFFFF"/>
                </a:solidFill>
                <a:latin typeface="Lucida Sans Unicode"/>
                <a:cs typeface="Lucida Sans Unicode"/>
              </a:rPr>
              <a:t>management</a:t>
            </a:r>
            <a:r>
              <a:rPr dirty="0" sz="29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290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Lucida Sans Unicode"/>
                <a:cs typeface="Lucida Sans Unicode"/>
              </a:rPr>
              <a:t>Linux.</a:t>
            </a:r>
            <a:endParaRPr sz="2900">
              <a:latin typeface="Lucida Sans Unicode"/>
              <a:cs typeface="Lucida Sans Unicode"/>
            </a:endParaRPr>
          </a:p>
          <a:p>
            <a:pPr algn="ctr" marL="556260" marR="5080">
              <a:lnSpc>
                <a:spcPct val="116799"/>
              </a:lnSpc>
            </a:pPr>
            <a:r>
              <a:rPr dirty="0" sz="2900" spc="80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Creation:</a:t>
            </a:r>
            <a:r>
              <a:rPr dirty="0" sz="29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55">
                <a:solidFill>
                  <a:srgbClr val="FFFFFF"/>
                </a:solidFill>
                <a:latin typeface="Lucida Sans Unicode"/>
                <a:cs typeface="Lucida Sans Unicode"/>
              </a:rPr>
              <a:t>Use</a:t>
            </a:r>
            <a:r>
              <a:rPr dirty="0" sz="29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65">
                <a:solidFill>
                  <a:srgbClr val="FFFFFF"/>
                </a:solidFill>
                <a:latin typeface="Lucida Sans Unicode"/>
                <a:cs typeface="Lucida Sans Unicode"/>
              </a:rPr>
              <a:t>fork()</a:t>
            </a:r>
            <a:r>
              <a:rPr dirty="0" sz="29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9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145">
                <a:solidFill>
                  <a:srgbClr val="FFFFFF"/>
                </a:solidFill>
                <a:latin typeface="Lucida Sans Unicode"/>
                <a:cs typeface="Lucida Sans Unicode"/>
              </a:rPr>
              <a:t>create</a:t>
            </a:r>
            <a:r>
              <a:rPr dirty="0" sz="29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365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9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child</a:t>
            </a:r>
            <a:r>
              <a:rPr dirty="0" sz="29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90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29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from</a:t>
            </a:r>
            <a:r>
              <a:rPr dirty="0" sz="29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6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9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95">
                <a:solidFill>
                  <a:srgbClr val="FFFFFF"/>
                </a:solidFill>
                <a:latin typeface="Lucida Sans Unicode"/>
                <a:cs typeface="Lucida Sans Unicode"/>
              </a:rPr>
              <a:t>parent</a:t>
            </a:r>
            <a:r>
              <a:rPr dirty="0" sz="29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Lucida Sans Unicode"/>
                <a:cs typeface="Lucida Sans Unicode"/>
              </a:rPr>
              <a:t>process. </a:t>
            </a:r>
            <a:r>
              <a:rPr dirty="0" sz="2900" spc="80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30">
                <a:solidFill>
                  <a:srgbClr val="FFFFFF"/>
                </a:solidFill>
                <a:latin typeface="Lucida Sans Unicode"/>
                <a:cs typeface="Lucida Sans Unicode"/>
              </a:rPr>
              <a:t>Execution:</a:t>
            </a:r>
            <a:r>
              <a:rPr dirty="0" sz="29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55">
                <a:solidFill>
                  <a:srgbClr val="FFFFFF"/>
                </a:solidFill>
                <a:latin typeface="Lucida Sans Unicode"/>
                <a:cs typeface="Lucida Sans Unicode"/>
              </a:rPr>
              <a:t>Use</a:t>
            </a:r>
            <a:r>
              <a:rPr dirty="0" sz="29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170">
                <a:solidFill>
                  <a:srgbClr val="FFFFFF"/>
                </a:solidFill>
                <a:latin typeface="Lucida Sans Unicode"/>
                <a:cs typeface="Lucida Sans Unicode"/>
              </a:rPr>
              <a:t>exec()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9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130">
                <a:solidFill>
                  <a:srgbClr val="FFFFFF"/>
                </a:solidFill>
                <a:latin typeface="Lucida Sans Unicode"/>
                <a:cs typeface="Lucida Sans Unicode"/>
              </a:rPr>
              <a:t>replace</a:t>
            </a:r>
            <a:r>
              <a:rPr dirty="0" sz="29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6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child</a:t>
            </a:r>
            <a:r>
              <a:rPr dirty="0" sz="29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90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29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365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29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130">
                <a:solidFill>
                  <a:srgbClr val="FFFFFF"/>
                </a:solidFill>
                <a:latin typeface="Lucida Sans Unicode"/>
                <a:cs typeface="Lucida Sans Unicode"/>
              </a:rPr>
              <a:t>new</a:t>
            </a:r>
            <a:r>
              <a:rPr dirty="0" sz="29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45">
                <a:solidFill>
                  <a:srgbClr val="FFFFFF"/>
                </a:solidFill>
                <a:latin typeface="Lucida Sans Unicode"/>
                <a:cs typeface="Lucida Sans Unicode"/>
              </a:rPr>
              <a:t>program.</a:t>
            </a:r>
            <a:endParaRPr sz="2900">
              <a:latin typeface="Lucida Sans Unicode"/>
              <a:cs typeface="Lucida Sans Unicode"/>
            </a:endParaRPr>
          </a:p>
          <a:p>
            <a:pPr algn="ctr" marL="960119" marR="408305">
              <a:lnSpc>
                <a:spcPct val="116799"/>
              </a:lnSpc>
              <a:spcBef>
                <a:spcPts val="5"/>
              </a:spcBef>
            </a:pPr>
            <a:r>
              <a:rPr dirty="0" sz="2900" spc="80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29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Synchronization: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55">
                <a:solidFill>
                  <a:srgbClr val="FFFFFF"/>
                </a:solidFill>
                <a:latin typeface="Lucida Sans Unicode"/>
                <a:cs typeface="Lucida Sans Unicode"/>
              </a:rPr>
              <a:t>Use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185">
                <a:solidFill>
                  <a:srgbClr val="FFFFFF"/>
                </a:solidFill>
                <a:latin typeface="Lucida Sans Unicode"/>
                <a:cs typeface="Lucida Sans Unicode"/>
              </a:rPr>
              <a:t>wait()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65">
                <a:solidFill>
                  <a:srgbClr val="FFFFFF"/>
                </a:solidFill>
                <a:latin typeface="Lucida Sans Unicode"/>
                <a:cs typeface="Lucida Sans Unicode"/>
              </a:rPr>
              <a:t>ensure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6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95">
                <a:solidFill>
                  <a:srgbClr val="FFFFFF"/>
                </a:solidFill>
                <a:latin typeface="Lucida Sans Unicode"/>
                <a:cs typeface="Lucida Sans Unicode"/>
              </a:rPr>
              <a:t>parent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75">
                <a:solidFill>
                  <a:srgbClr val="FFFFFF"/>
                </a:solidFill>
                <a:latin typeface="Lucida Sans Unicode"/>
                <a:cs typeface="Lucida Sans Unicode"/>
              </a:rPr>
              <a:t>waits</a:t>
            </a:r>
            <a:r>
              <a:rPr dirty="0" sz="29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4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6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9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Lucida Sans Unicode"/>
                <a:cs typeface="Lucida Sans Unicode"/>
              </a:rPr>
              <a:t>child process.</a:t>
            </a:r>
            <a:endParaRPr sz="2900">
              <a:latin typeface="Lucida Sans Unicode"/>
              <a:cs typeface="Lucida Sans Unicode"/>
            </a:endParaRPr>
          </a:p>
          <a:p>
            <a:pPr algn="ctr" marL="543560">
              <a:lnSpc>
                <a:spcPct val="100000"/>
              </a:lnSpc>
              <a:spcBef>
                <a:spcPts val="585"/>
              </a:spcBef>
            </a:pPr>
            <a:r>
              <a:rPr dirty="0" sz="2900" spc="80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29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Termination:</a:t>
            </a:r>
            <a:r>
              <a:rPr dirty="0" sz="29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55">
                <a:solidFill>
                  <a:srgbClr val="FFFFFF"/>
                </a:solidFill>
                <a:latin typeface="Lucida Sans Unicode"/>
                <a:cs typeface="Lucida Sans Unicode"/>
              </a:rPr>
              <a:t>Use</a:t>
            </a:r>
            <a:r>
              <a:rPr dirty="0" sz="29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60">
                <a:solidFill>
                  <a:srgbClr val="FFFFFF"/>
                </a:solidFill>
                <a:latin typeface="Lucida Sans Unicode"/>
                <a:cs typeface="Lucida Sans Unicode"/>
              </a:rPr>
              <a:t>exit()</a:t>
            </a:r>
            <a:r>
              <a:rPr dirty="0" sz="29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29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75">
                <a:solidFill>
                  <a:srgbClr val="FFFFFF"/>
                </a:solidFill>
                <a:latin typeface="Lucida Sans Unicode"/>
                <a:cs typeface="Lucida Sans Unicode"/>
              </a:rPr>
              <a:t>safely</a:t>
            </a:r>
            <a:r>
              <a:rPr dirty="0" sz="29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80">
                <a:solidFill>
                  <a:srgbClr val="FFFFFF"/>
                </a:solidFill>
                <a:latin typeface="Lucida Sans Unicode"/>
                <a:cs typeface="Lucida Sans Unicode"/>
              </a:rPr>
              <a:t>terminate</a:t>
            </a:r>
            <a:r>
              <a:rPr dirty="0" sz="29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6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9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Lucida Sans Unicode"/>
                <a:cs typeface="Lucida Sans Unicode"/>
              </a:rPr>
              <a:t>process.</a:t>
            </a:r>
            <a:endParaRPr sz="2900">
              <a:latin typeface="Lucida Sans Unicode"/>
              <a:cs typeface="Lucida Sans Unicode"/>
            </a:endParaRPr>
          </a:p>
          <a:p>
            <a:pPr algn="ctr" marL="1283970" marR="732155">
              <a:lnSpc>
                <a:spcPct val="116799"/>
              </a:lnSpc>
            </a:pPr>
            <a:r>
              <a:rPr dirty="0" sz="2900" spc="80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29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30">
                <a:solidFill>
                  <a:srgbClr val="FFFFFF"/>
                </a:solidFill>
                <a:latin typeface="Lucida Sans Unicode"/>
                <a:cs typeface="Lucida Sans Unicode"/>
              </a:rPr>
              <a:t>Monitoring:</a:t>
            </a:r>
            <a:r>
              <a:rPr dirty="0" sz="29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Display</a:t>
            </a:r>
            <a:r>
              <a:rPr dirty="0" sz="29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90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29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50">
                <a:solidFill>
                  <a:srgbClr val="FFFFFF"/>
                </a:solidFill>
                <a:latin typeface="Lucida Sans Unicode"/>
                <a:cs typeface="Lucida Sans Unicode"/>
              </a:rPr>
              <a:t>IDs,</a:t>
            </a:r>
            <a:r>
              <a:rPr dirty="0" sz="29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70">
                <a:solidFill>
                  <a:srgbClr val="FFFFFF"/>
                </a:solidFill>
                <a:latin typeface="Lucida Sans Unicode"/>
                <a:cs typeface="Lucida Sans Unicode"/>
              </a:rPr>
              <a:t>parent-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child</a:t>
            </a:r>
            <a:r>
              <a:rPr dirty="0" sz="29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relationships,</a:t>
            </a:r>
            <a:r>
              <a:rPr dirty="0" sz="29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160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execution</a:t>
            </a:r>
            <a:r>
              <a:rPr dirty="0" sz="2900" spc="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Lucida Sans Unicode"/>
                <a:cs typeface="Lucida Sans Unicode"/>
              </a:rPr>
              <a:t>status.</a:t>
            </a:r>
            <a:endParaRPr sz="2900">
              <a:latin typeface="Lucida Sans Unicode"/>
              <a:cs typeface="Lucida Sans Unicode"/>
            </a:endParaRPr>
          </a:p>
          <a:p>
            <a:pPr algn="ctr" marL="1282700" marR="709930">
              <a:lnSpc>
                <a:spcPct val="116799"/>
              </a:lnSpc>
            </a:pPr>
            <a:r>
              <a:rPr dirty="0" sz="2900" spc="114">
                <a:solidFill>
                  <a:srgbClr val="FFFFFF"/>
                </a:solidFill>
                <a:latin typeface="Lucida Sans Unicode"/>
                <a:cs typeface="Lucida Sans Unicode"/>
              </a:rPr>
              <a:t>Complete</a:t>
            </a:r>
            <a:r>
              <a:rPr dirty="0" sz="29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Lifecycle:</a:t>
            </a:r>
            <a:r>
              <a:rPr dirty="0" sz="29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75">
                <a:solidFill>
                  <a:srgbClr val="FFFFFF"/>
                </a:solidFill>
                <a:latin typeface="Lucida Sans Unicode"/>
                <a:cs typeface="Lucida Sans Unicode"/>
              </a:rPr>
              <a:t>Demonstrate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6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29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flow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from</a:t>
            </a:r>
            <a:r>
              <a:rPr dirty="0" sz="29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80">
                <a:solidFill>
                  <a:srgbClr val="FFFFFF"/>
                </a:solidFill>
                <a:latin typeface="Lucida Sans Unicode"/>
                <a:cs typeface="Lucida Sans Unicode"/>
              </a:rPr>
              <a:t>creation</a:t>
            </a:r>
            <a:r>
              <a:rPr dirty="0" sz="2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1805">
                <a:solidFill>
                  <a:srgbClr val="FFFFFF"/>
                </a:solidFill>
                <a:latin typeface="Lucida Sans Unicode"/>
                <a:cs typeface="Lucida Sans Unicode"/>
              </a:rPr>
              <a:t>→</a:t>
            </a:r>
            <a:r>
              <a:rPr dirty="0" sz="1350" spc="2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execution</a:t>
            </a:r>
            <a:r>
              <a:rPr dirty="0" sz="29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1755">
                <a:solidFill>
                  <a:srgbClr val="FFFFFF"/>
                </a:solidFill>
                <a:latin typeface="Lucida Sans Unicode"/>
                <a:cs typeface="Lucida Sans Unicode"/>
              </a:rPr>
              <a:t>→ </a:t>
            </a:r>
            <a:r>
              <a:rPr dirty="0" sz="2900">
                <a:solidFill>
                  <a:srgbClr val="FFFFFF"/>
                </a:solidFill>
                <a:latin typeface="Lucida Sans Unicode"/>
                <a:cs typeface="Lucida Sans Unicode"/>
              </a:rPr>
              <a:t>synchronization</a:t>
            </a:r>
            <a:r>
              <a:rPr dirty="0" sz="2900" spc="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1805">
                <a:solidFill>
                  <a:srgbClr val="FFFFFF"/>
                </a:solidFill>
                <a:latin typeface="Lucida Sans Unicode"/>
                <a:cs typeface="Lucida Sans Unicode"/>
              </a:rPr>
              <a:t>→</a:t>
            </a:r>
            <a:r>
              <a:rPr dirty="0" sz="1350" spc="3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900" spc="-10">
                <a:solidFill>
                  <a:srgbClr val="FFFFFF"/>
                </a:solidFill>
                <a:latin typeface="Lucida Sans Unicode"/>
                <a:cs typeface="Lucida Sans Unicode"/>
              </a:rPr>
              <a:t>termination.</a:t>
            </a:r>
            <a:endParaRPr sz="2900">
              <a:latin typeface="Lucida Sans Unicode"/>
              <a:cs typeface="Lucida Sans Unicode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797148" y="347851"/>
            <a:ext cx="10525125" cy="17887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50" spc="-1605"/>
              <a:t>PROPOSED</a:t>
            </a:r>
            <a:r>
              <a:rPr dirty="0" sz="11550" spc="-710"/>
              <a:t> </a:t>
            </a:r>
            <a:r>
              <a:rPr dirty="0" sz="11550" spc="-1730"/>
              <a:t>SOLUTION</a:t>
            </a:r>
            <a:endParaRPr sz="115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6529" y="0"/>
            <a:ext cx="8115299" cy="40576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4554" y="6361958"/>
            <a:ext cx="8110828" cy="39250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263741"/>
            <a:ext cx="4520791" cy="76040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33488" y="4047664"/>
            <a:ext cx="142913" cy="14291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33488" y="4619320"/>
            <a:ext cx="142913" cy="14291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33488" y="5190976"/>
            <a:ext cx="142913" cy="14291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33488" y="5762631"/>
            <a:ext cx="142913" cy="14291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33488" y="6334287"/>
            <a:ext cx="142913" cy="14291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33488" y="6905942"/>
            <a:ext cx="142913" cy="14291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33488" y="7477598"/>
            <a:ext cx="142913" cy="14291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973607" y="3747898"/>
            <a:ext cx="11894820" cy="459867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3200" spc="-95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32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05">
                <a:solidFill>
                  <a:srgbClr val="FFFFFF"/>
                </a:solidFill>
                <a:latin typeface="Lucida Sans Unicode"/>
                <a:cs typeface="Lucida Sans Unicode"/>
              </a:rPr>
              <a:t>understand</a:t>
            </a:r>
            <a:r>
              <a:rPr dirty="0" sz="32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8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32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160">
                <a:solidFill>
                  <a:srgbClr val="FFFFFF"/>
                </a:solidFill>
                <a:latin typeface="Lucida Sans Unicode"/>
                <a:cs typeface="Lucida Sans Unicode"/>
              </a:rPr>
              <a:t>Linux</a:t>
            </a:r>
            <a:r>
              <a:rPr dirty="0" sz="320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05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32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Lucida Sans Unicode"/>
                <a:cs typeface="Lucida Sans Unicode"/>
              </a:rPr>
              <a:t>lifecycle.</a:t>
            </a:r>
            <a:endParaRPr sz="3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3200" spc="-95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32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20">
                <a:solidFill>
                  <a:srgbClr val="FFFFFF"/>
                </a:solidFill>
                <a:latin typeface="Lucida Sans Unicode"/>
                <a:cs typeface="Lucida Sans Unicode"/>
              </a:rPr>
              <a:t>demonstrate</a:t>
            </a:r>
            <a:r>
              <a:rPr dirty="0" sz="32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05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32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00">
                <a:solidFill>
                  <a:srgbClr val="FFFFFF"/>
                </a:solidFill>
                <a:latin typeface="Lucida Sans Unicode"/>
                <a:cs typeface="Lucida Sans Unicode"/>
              </a:rPr>
              <a:t>creation</a:t>
            </a:r>
            <a:r>
              <a:rPr dirty="0" sz="32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FFFFFF"/>
                </a:solidFill>
                <a:latin typeface="Lucida Sans Unicode"/>
                <a:cs typeface="Lucida Sans Unicode"/>
              </a:rPr>
              <a:t>using</a:t>
            </a:r>
            <a:r>
              <a:rPr dirty="0" sz="32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Lucida Sans Unicode"/>
                <a:cs typeface="Lucida Sans Unicode"/>
              </a:rPr>
              <a:t>fork().</a:t>
            </a:r>
            <a:endParaRPr sz="3200">
              <a:latin typeface="Lucida Sans Unicode"/>
              <a:cs typeface="Lucida Sans Unicode"/>
            </a:endParaRPr>
          </a:p>
          <a:p>
            <a:pPr marL="12700" marR="1287780">
              <a:lnSpc>
                <a:spcPct val="117200"/>
              </a:lnSpc>
            </a:pPr>
            <a:r>
              <a:rPr dirty="0" sz="3200" spc="-95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32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20">
                <a:solidFill>
                  <a:srgbClr val="FFFFFF"/>
                </a:solidFill>
                <a:latin typeface="Lucida Sans Unicode"/>
                <a:cs typeface="Lucida Sans Unicode"/>
              </a:rPr>
              <a:t>demonstrate</a:t>
            </a:r>
            <a:r>
              <a:rPr dirty="0" sz="32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30">
                <a:solidFill>
                  <a:srgbClr val="FFFFFF"/>
                </a:solidFill>
                <a:latin typeface="Lucida Sans Unicode"/>
                <a:cs typeface="Lucida Sans Unicode"/>
              </a:rPr>
              <a:t>program</a:t>
            </a:r>
            <a:r>
              <a:rPr dirty="0" sz="32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FFFFFF"/>
                </a:solidFill>
                <a:latin typeface="Lucida Sans Unicode"/>
                <a:cs typeface="Lucida Sans Unicode"/>
              </a:rPr>
              <a:t>execution</a:t>
            </a:r>
            <a:r>
              <a:rPr dirty="0" sz="320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FFFFFF"/>
                </a:solidFill>
                <a:latin typeface="Lucida Sans Unicode"/>
                <a:cs typeface="Lucida Sans Unicode"/>
              </a:rPr>
              <a:t>using</a:t>
            </a:r>
            <a:r>
              <a:rPr dirty="0" sz="32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00">
                <a:solidFill>
                  <a:srgbClr val="FFFFFF"/>
                </a:solidFill>
                <a:latin typeface="Lucida Sans Unicode"/>
                <a:cs typeface="Lucida Sans Unicode"/>
              </a:rPr>
              <a:t>exec(). </a:t>
            </a:r>
            <a:r>
              <a:rPr dirty="0" sz="3200" spc="-95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32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05">
                <a:solidFill>
                  <a:srgbClr val="FFFFFF"/>
                </a:solidFill>
                <a:latin typeface="Lucida Sans Unicode"/>
                <a:cs typeface="Lucida Sans Unicode"/>
              </a:rPr>
              <a:t>implement</a:t>
            </a:r>
            <a:r>
              <a:rPr dirty="0" sz="32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05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32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FFFFFF"/>
                </a:solidFill>
                <a:latin typeface="Lucida Sans Unicode"/>
                <a:cs typeface="Lucida Sans Unicode"/>
              </a:rPr>
              <a:t>synchronization</a:t>
            </a:r>
            <a:r>
              <a:rPr dirty="0" sz="320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FFFFFF"/>
                </a:solidFill>
                <a:latin typeface="Lucida Sans Unicode"/>
                <a:cs typeface="Lucida Sans Unicode"/>
              </a:rPr>
              <a:t>using</a:t>
            </a:r>
            <a:r>
              <a:rPr dirty="0" sz="32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20">
                <a:solidFill>
                  <a:srgbClr val="FFFFFF"/>
                </a:solidFill>
                <a:latin typeface="Lucida Sans Unicode"/>
                <a:cs typeface="Lucida Sans Unicode"/>
              </a:rPr>
              <a:t>wait(). </a:t>
            </a:r>
            <a:r>
              <a:rPr dirty="0" sz="3200" spc="-95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32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20">
                <a:solidFill>
                  <a:srgbClr val="FFFFFF"/>
                </a:solidFill>
                <a:latin typeface="Lucida Sans Unicode"/>
                <a:cs typeface="Lucida Sans Unicode"/>
              </a:rPr>
              <a:t>demonstrate</a:t>
            </a:r>
            <a:r>
              <a:rPr dirty="0" sz="32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05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32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65">
                <a:solidFill>
                  <a:srgbClr val="FFFFFF"/>
                </a:solidFill>
                <a:latin typeface="Lucida Sans Unicode"/>
                <a:cs typeface="Lucida Sans Unicode"/>
              </a:rPr>
              <a:t>termination</a:t>
            </a:r>
            <a:r>
              <a:rPr dirty="0" sz="32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FFFFFF"/>
                </a:solidFill>
                <a:latin typeface="Lucida Sans Unicode"/>
                <a:cs typeface="Lucida Sans Unicode"/>
              </a:rPr>
              <a:t>using</a:t>
            </a:r>
            <a:r>
              <a:rPr dirty="0" sz="32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Lucida Sans Unicode"/>
                <a:cs typeface="Lucida Sans Unicode"/>
              </a:rPr>
              <a:t>exit().</a:t>
            </a:r>
            <a:endParaRPr sz="3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3200" spc="-95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32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05">
                <a:solidFill>
                  <a:srgbClr val="FFFFFF"/>
                </a:solidFill>
                <a:latin typeface="Lucida Sans Unicode"/>
                <a:cs typeface="Lucida Sans Unicode"/>
              </a:rPr>
              <a:t>understand</a:t>
            </a:r>
            <a:r>
              <a:rPr dirty="0" sz="32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85">
                <a:solidFill>
                  <a:srgbClr val="FFFFFF"/>
                </a:solidFill>
                <a:latin typeface="Lucida Sans Unicode"/>
                <a:cs typeface="Lucida Sans Unicode"/>
              </a:rPr>
              <a:t>parent-</a:t>
            </a:r>
            <a:r>
              <a:rPr dirty="0" sz="3200" spc="50">
                <a:solidFill>
                  <a:srgbClr val="FFFFFF"/>
                </a:solidFill>
                <a:latin typeface="Lucida Sans Unicode"/>
                <a:cs typeface="Lucida Sans Unicode"/>
              </a:rPr>
              <a:t>child</a:t>
            </a:r>
            <a:r>
              <a:rPr dirty="0" sz="32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05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320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Lucida Sans Unicode"/>
                <a:cs typeface="Lucida Sans Unicode"/>
              </a:rPr>
              <a:t>relationships.</a:t>
            </a:r>
            <a:endParaRPr sz="3200">
              <a:latin typeface="Lucida Sans Unicode"/>
              <a:cs typeface="Lucida Sans Unicode"/>
            </a:endParaRPr>
          </a:p>
          <a:p>
            <a:pPr marL="12700" marR="5080">
              <a:lnSpc>
                <a:spcPct val="117200"/>
              </a:lnSpc>
            </a:pPr>
            <a:r>
              <a:rPr dirty="0" sz="32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3200" spc="7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70">
                <a:solidFill>
                  <a:srgbClr val="FFFFFF"/>
                </a:solidFill>
                <a:latin typeface="Lucida Sans Unicode"/>
                <a:cs typeface="Lucida Sans Unicode"/>
              </a:rPr>
              <a:t>provide</a:t>
            </a:r>
            <a:r>
              <a:rPr dirty="0" sz="3200" spc="7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42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3200" spc="7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130">
                <a:solidFill>
                  <a:srgbClr val="FFFFFF"/>
                </a:solidFill>
                <a:latin typeface="Lucida Sans Unicode"/>
                <a:cs typeface="Lucida Sans Unicode"/>
              </a:rPr>
              <a:t>practical</a:t>
            </a:r>
            <a:r>
              <a:rPr dirty="0" sz="3200" spc="7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85">
                <a:solidFill>
                  <a:srgbClr val="FFFFFF"/>
                </a:solidFill>
                <a:latin typeface="Lucida Sans Unicode"/>
                <a:cs typeface="Lucida Sans Unicode"/>
              </a:rPr>
              <a:t>understanding</a:t>
            </a:r>
            <a:r>
              <a:rPr dirty="0" sz="3200" spc="7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3200" spc="7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-30">
                <a:solidFill>
                  <a:srgbClr val="FFFFFF"/>
                </a:solidFill>
                <a:latin typeface="Lucida Sans Unicode"/>
                <a:cs typeface="Lucida Sans Unicode"/>
              </a:rPr>
              <a:t>Linux</a:t>
            </a:r>
            <a:r>
              <a:rPr dirty="0" sz="3200" spc="7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200" spc="95">
                <a:solidFill>
                  <a:srgbClr val="FFFFFF"/>
                </a:solidFill>
                <a:latin typeface="Lucida Sans Unicode"/>
                <a:cs typeface="Lucida Sans Unicode"/>
              </a:rPr>
              <a:t>process </a:t>
            </a:r>
            <a:r>
              <a:rPr dirty="0" sz="3200" spc="155">
                <a:solidFill>
                  <a:srgbClr val="FFFFFF"/>
                </a:solidFill>
                <a:latin typeface="Lucida Sans Unicode"/>
                <a:cs typeface="Lucida Sans Unicode"/>
              </a:rPr>
              <a:t>management.</a:t>
            </a:r>
            <a:endParaRPr sz="3200">
              <a:latin typeface="Lucida Sans Unicode"/>
              <a:cs typeface="Lucida Sans Unicode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8376208" y="1242222"/>
            <a:ext cx="4899660" cy="15093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700" spc="-1360"/>
              <a:t>OBJECTIVES</a:t>
            </a:r>
            <a:endParaRPr sz="9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463611"/>
            <a:ext cx="3142953" cy="28233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1491" y="542925"/>
            <a:ext cx="9201149" cy="92011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8771" y="3319226"/>
            <a:ext cx="139369" cy="13936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8771" y="3876704"/>
            <a:ext cx="139369" cy="13936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8771" y="4434181"/>
            <a:ext cx="139369" cy="13936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8771" y="4991658"/>
            <a:ext cx="139369" cy="13936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8771" y="5549136"/>
            <a:ext cx="139369" cy="13936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8771" y="6106613"/>
            <a:ext cx="139369" cy="13936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8771" y="6664090"/>
            <a:ext cx="139369" cy="13936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8771" y="7221567"/>
            <a:ext cx="139369" cy="13936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8771" y="7779045"/>
            <a:ext cx="139369" cy="13936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630491" y="3026580"/>
            <a:ext cx="15161260" cy="504317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dirty="0" sz="3150" spc="80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31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160">
                <a:solidFill>
                  <a:srgbClr val="FFFFFF"/>
                </a:solidFill>
                <a:latin typeface="Lucida Sans Unicode"/>
                <a:cs typeface="Lucida Sans Unicode"/>
              </a:rPr>
              <a:t>Management</a:t>
            </a:r>
            <a:r>
              <a:rPr dirty="0" sz="31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55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dirty="0" sz="315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Creation,</a:t>
            </a:r>
            <a:r>
              <a:rPr dirty="0" sz="31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Lucida Sans Unicode"/>
                <a:cs typeface="Lucida Sans Unicode"/>
              </a:rPr>
              <a:t>execution,</a:t>
            </a:r>
            <a:r>
              <a:rPr dirty="0" sz="31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19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315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50">
                <a:solidFill>
                  <a:srgbClr val="FFFFFF"/>
                </a:solidFill>
                <a:latin typeface="Lucida Sans Unicode"/>
                <a:cs typeface="Lucida Sans Unicode"/>
              </a:rPr>
              <a:t>termination</a:t>
            </a:r>
            <a:r>
              <a:rPr dirty="0" sz="31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31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Lucida Sans Unicode"/>
                <a:cs typeface="Lucida Sans Unicode"/>
              </a:rPr>
              <a:t>processes.</a:t>
            </a:r>
            <a:endParaRPr sz="31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dirty="0" sz="3150" spc="80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315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75">
                <a:solidFill>
                  <a:srgbClr val="FFFFFF"/>
                </a:solidFill>
                <a:latin typeface="Lucida Sans Unicode"/>
                <a:cs typeface="Lucida Sans Unicode"/>
              </a:rPr>
              <a:t>Creation</a:t>
            </a:r>
            <a:r>
              <a:rPr dirty="0" sz="315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55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dirty="0" sz="315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Using</a:t>
            </a:r>
            <a:r>
              <a:rPr dirty="0" sz="315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60">
                <a:solidFill>
                  <a:srgbClr val="FFFFFF"/>
                </a:solidFill>
                <a:latin typeface="Lucida Sans Unicode"/>
                <a:cs typeface="Lucida Sans Unicode"/>
              </a:rPr>
              <a:t>fork()</a:t>
            </a:r>
            <a:r>
              <a:rPr dirty="0" sz="315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315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145">
                <a:solidFill>
                  <a:srgbClr val="FFFFFF"/>
                </a:solidFill>
                <a:latin typeface="Lucida Sans Unicode"/>
                <a:cs typeface="Lucida Sans Unicode"/>
              </a:rPr>
              <a:t>create</a:t>
            </a:r>
            <a:r>
              <a:rPr dirty="0" sz="315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child</a:t>
            </a:r>
            <a:r>
              <a:rPr dirty="0" sz="315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Lucida Sans Unicode"/>
                <a:cs typeface="Lucida Sans Unicode"/>
              </a:rPr>
              <a:t>processes.</a:t>
            </a:r>
            <a:endParaRPr sz="31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dirty="0" sz="3150" spc="80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3150" spc="-1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Execution</a:t>
            </a:r>
            <a:r>
              <a:rPr dirty="0" sz="315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55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dirty="0" sz="315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Using</a:t>
            </a:r>
            <a:r>
              <a:rPr dirty="0" sz="315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165">
                <a:solidFill>
                  <a:srgbClr val="FFFFFF"/>
                </a:solidFill>
                <a:latin typeface="Lucida Sans Unicode"/>
                <a:cs typeface="Lucida Sans Unicode"/>
              </a:rPr>
              <a:t>exec()</a:t>
            </a:r>
            <a:r>
              <a:rPr dirty="0" sz="315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315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55">
                <a:solidFill>
                  <a:srgbClr val="FFFFFF"/>
                </a:solidFill>
                <a:latin typeface="Lucida Sans Unicode"/>
                <a:cs typeface="Lucida Sans Unicode"/>
              </a:rPr>
              <a:t>execute</a:t>
            </a:r>
            <a:r>
              <a:rPr dirty="0" sz="315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38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315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125">
                <a:solidFill>
                  <a:srgbClr val="FFFFFF"/>
                </a:solidFill>
                <a:latin typeface="Lucida Sans Unicode"/>
                <a:cs typeface="Lucida Sans Unicode"/>
              </a:rPr>
              <a:t>new</a:t>
            </a:r>
            <a:r>
              <a:rPr dirty="0" sz="3150" spc="-1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45">
                <a:solidFill>
                  <a:srgbClr val="FFFFFF"/>
                </a:solidFill>
                <a:latin typeface="Lucida Sans Unicode"/>
                <a:cs typeface="Lucida Sans Unicode"/>
              </a:rPr>
              <a:t>program.</a:t>
            </a:r>
            <a:endParaRPr sz="3150">
              <a:latin typeface="Lucida Sans Unicode"/>
              <a:cs typeface="Lucida Sans Unicode"/>
            </a:endParaRPr>
          </a:p>
          <a:p>
            <a:pPr algn="ctr" marL="12700" marR="5080">
              <a:lnSpc>
                <a:spcPct val="116100"/>
              </a:lnSpc>
              <a:spcBef>
                <a:spcPts val="5"/>
              </a:spcBef>
            </a:pPr>
            <a:r>
              <a:rPr dirty="0" sz="3150" spc="60">
                <a:solidFill>
                  <a:srgbClr val="FFFFFF"/>
                </a:solidFill>
                <a:latin typeface="Lucida Sans Unicode"/>
                <a:cs typeface="Lucida Sans Unicode"/>
              </a:rPr>
              <a:t>Parent-</a:t>
            </a: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Child</a:t>
            </a:r>
            <a:r>
              <a:rPr dirty="0" sz="31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80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31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55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dirty="0" sz="31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60">
                <a:solidFill>
                  <a:srgbClr val="FFFFFF"/>
                </a:solidFill>
                <a:latin typeface="Lucida Sans Unicode"/>
                <a:cs typeface="Lucida Sans Unicode"/>
              </a:rPr>
              <a:t>Understanding</a:t>
            </a:r>
            <a:r>
              <a:rPr dirty="0" sz="31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6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31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relationship</a:t>
            </a:r>
            <a:r>
              <a:rPr dirty="0" sz="31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120">
                <a:solidFill>
                  <a:srgbClr val="FFFFFF"/>
                </a:solidFill>
                <a:latin typeface="Lucida Sans Unicode"/>
                <a:cs typeface="Lucida Sans Unicode"/>
              </a:rPr>
              <a:t>between</a:t>
            </a:r>
            <a:r>
              <a:rPr dirty="0" sz="31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Lucida Sans Unicode"/>
                <a:cs typeface="Lucida Sans Unicode"/>
              </a:rPr>
              <a:t>processes. </a:t>
            </a:r>
            <a:r>
              <a:rPr dirty="0" sz="3150" spc="80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315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Synchronization</a:t>
            </a:r>
            <a:r>
              <a:rPr dirty="0" sz="31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55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dirty="0" sz="31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Using</a:t>
            </a:r>
            <a:r>
              <a:rPr dirty="0" sz="31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185">
                <a:solidFill>
                  <a:srgbClr val="FFFFFF"/>
                </a:solidFill>
                <a:latin typeface="Lucida Sans Unicode"/>
                <a:cs typeface="Lucida Sans Unicode"/>
              </a:rPr>
              <a:t>wait()</a:t>
            </a:r>
            <a:r>
              <a:rPr dirty="0" sz="31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-45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31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55">
                <a:solidFill>
                  <a:srgbClr val="FFFFFF"/>
                </a:solidFill>
                <a:latin typeface="Lucida Sans Unicode"/>
                <a:cs typeface="Lucida Sans Unicode"/>
              </a:rPr>
              <a:t>coordination</a:t>
            </a:r>
            <a:r>
              <a:rPr dirty="0" sz="31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120">
                <a:solidFill>
                  <a:srgbClr val="FFFFFF"/>
                </a:solidFill>
                <a:latin typeface="Lucida Sans Unicode"/>
                <a:cs typeface="Lucida Sans Unicode"/>
              </a:rPr>
              <a:t>between</a:t>
            </a:r>
            <a:r>
              <a:rPr dirty="0" sz="31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Lucida Sans Unicode"/>
                <a:cs typeface="Lucida Sans Unicode"/>
              </a:rPr>
              <a:t>processes.</a:t>
            </a:r>
            <a:endParaRPr sz="31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dirty="0" sz="3150" spc="80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315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Termination</a:t>
            </a:r>
            <a:r>
              <a:rPr dirty="0" sz="31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55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dirty="0" sz="31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Using</a:t>
            </a:r>
            <a:r>
              <a:rPr dirty="0" sz="315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55">
                <a:solidFill>
                  <a:srgbClr val="FFFFFF"/>
                </a:solidFill>
                <a:latin typeface="Lucida Sans Unicode"/>
                <a:cs typeface="Lucida Sans Unicode"/>
              </a:rPr>
              <a:t>exit()</a:t>
            </a:r>
            <a:r>
              <a:rPr dirty="0" sz="31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31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80">
                <a:solidFill>
                  <a:srgbClr val="FFFFFF"/>
                </a:solidFill>
                <a:latin typeface="Lucida Sans Unicode"/>
                <a:cs typeface="Lucida Sans Unicode"/>
              </a:rPr>
              <a:t>terminate</a:t>
            </a:r>
            <a:r>
              <a:rPr dirty="0" sz="315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Lucida Sans Unicode"/>
                <a:cs typeface="Lucida Sans Unicode"/>
              </a:rPr>
              <a:t>processes.</a:t>
            </a:r>
            <a:endParaRPr sz="31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dirty="0" sz="3150" spc="80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31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-150">
                <a:solidFill>
                  <a:srgbClr val="FFFFFF"/>
                </a:solidFill>
                <a:latin typeface="Lucida Sans Unicode"/>
                <a:cs typeface="Lucida Sans Unicode"/>
              </a:rPr>
              <a:t>ID</a:t>
            </a:r>
            <a:r>
              <a:rPr dirty="0" sz="315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114">
                <a:solidFill>
                  <a:srgbClr val="FFFFFF"/>
                </a:solidFill>
                <a:latin typeface="Lucida Sans Unicode"/>
                <a:cs typeface="Lucida Sans Unicode"/>
              </a:rPr>
              <a:t>(PID)</a:t>
            </a:r>
            <a:r>
              <a:rPr dirty="0" sz="31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55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dirty="0" sz="315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Identifying</a:t>
            </a:r>
            <a:r>
              <a:rPr dirty="0" sz="315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19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315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tracking</a:t>
            </a:r>
            <a:r>
              <a:rPr dirty="0" sz="315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Lucida Sans Unicode"/>
                <a:cs typeface="Lucida Sans Unicode"/>
              </a:rPr>
              <a:t>processes.</a:t>
            </a:r>
            <a:endParaRPr sz="31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dirty="0" sz="3150" spc="114">
                <a:solidFill>
                  <a:srgbClr val="FFFFFF"/>
                </a:solidFill>
                <a:latin typeface="Lucida Sans Unicode"/>
                <a:cs typeface="Lucida Sans Unicode"/>
              </a:rPr>
              <a:t>System</a:t>
            </a:r>
            <a:r>
              <a:rPr dirty="0" sz="315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70">
                <a:solidFill>
                  <a:srgbClr val="FFFFFF"/>
                </a:solidFill>
                <a:latin typeface="Lucida Sans Unicode"/>
                <a:cs typeface="Lucida Sans Unicode"/>
              </a:rPr>
              <a:t>Calls</a:t>
            </a:r>
            <a:r>
              <a:rPr dirty="0" sz="315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55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dirty="0" sz="31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45">
                <a:solidFill>
                  <a:srgbClr val="FFFFFF"/>
                </a:solidFill>
                <a:latin typeface="Lucida Sans Unicode"/>
                <a:cs typeface="Lucida Sans Unicode"/>
              </a:rPr>
              <a:t>Interaction</a:t>
            </a:r>
            <a:r>
              <a:rPr dirty="0" sz="315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120">
                <a:solidFill>
                  <a:srgbClr val="FFFFFF"/>
                </a:solidFill>
                <a:latin typeface="Lucida Sans Unicode"/>
                <a:cs typeface="Lucida Sans Unicode"/>
              </a:rPr>
              <a:t>between</a:t>
            </a:r>
            <a:r>
              <a:rPr dirty="0" sz="31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user</a:t>
            </a:r>
            <a:r>
              <a:rPr dirty="0" sz="315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100">
                <a:solidFill>
                  <a:srgbClr val="FFFFFF"/>
                </a:solidFill>
                <a:latin typeface="Lucida Sans Unicode"/>
                <a:cs typeface="Lucida Sans Unicode"/>
              </a:rPr>
              <a:t>programs</a:t>
            </a:r>
            <a:r>
              <a:rPr dirty="0" sz="31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19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315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6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315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-170">
                <a:solidFill>
                  <a:srgbClr val="FFFFFF"/>
                </a:solidFill>
                <a:latin typeface="Lucida Sans Unicode"/>
                <a:cs typeface="Lucida Sans Unicode"/>
              </a:rPr>
              <a:t>Linux</a:t>
            </a:r>
            <a:r>
              <a:rPr dirty="0" sz="315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Lucida Sans Unicode"/>
                <a:cs typeface="Lucida Sans Unicode"/>
              </a:rPr>
              <a:t>kernel.</a:t>
            </a:r>
            <a:endParaRPr sz="31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Context</a:t>
            </a:r>
            <a:r>
              <a:rPr dirty="0" sz="31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55">
                <a:solidFill>
                  <a:srgbClr val="FFFFFF"/>
                </a:solidFill>
                <a:latin typeface="Lucida Sans Unicode"/>
                <a:cs typeface="Lucida Sans Unicode"/>
              </a:rPr>
              <a:t>Switching</a:t>
            </a:r>
            <a:r>
              <a:rPr dirty="0" sz="31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550">
                <a:solidFill>
                  <a:srgbClr val="FFFFFF"/>
                </a:solidFill>
                <a:latin typeface="Lucida Sans Unicode"/>
                <a:cs typeface="Lucida Sans Unicode"/>
              </a:rPr>
              <a:t>–</a:t>
            </a:r>
            <a:r>
              <a:rPr dirty="0" sz="31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80">
                <a:solidFill>
                  <a:srgbClr val="FFFFFF"/>
                </a:solidFill>
                <a:latin typeface="Lucida Sans Unicode"/>
                <a:cs typeface="Lucida Sans Unicode"/>
              </a:rPr>
              <a:t>CPU</a:t>
            </a:r>
            <a:r>
              <a:rPr dirty="0" sz="31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switching</a:t>
            </a:r>
            <a:r>
              <a:rPr dirty="0" sz="31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120">
                <a:solidFill>
                  <a:srgbClr val="FFFFFF"/>
                </a:solidFill>
                <a:latin typeface="Lucida Sans Unicode"/>
                <a:cs typeface="Lucida Sans Unicode"/>
              </a:rPr>
              <a:t>between</a:t>
            </a:r>
            <a:r>
              <a:rPr dirty="0" sz="31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>
                <a:solidFill>
                  <a:srgbClr val="FFFFFF"/>
                </a:solidFill>
                <a:latin typeface="Lucida Sans Unicode"/>
                <a:cs typeface="Lucida Sans Unicode"/>
              </a:rPr>
              <a:t>different</a:t>
            </a:r>
            <a:r>
              <a:rPr dirty="0" sz="31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50" spc="-10">
                <a:solidFill>
                  <a:srgbClr val="FFFFFF"/>
                </a:solidFill>
                <a:latin typeface="Lucida Sans Unicode"/>
                <a:cs typeface="Lucida Sans Unicode"/>
              </a:rPr>
              <a:t>processes.</a:t>
            </a:r>
            <a:endParaRPr sz="3150">
              <a:latin typeface="Lucida Sans Unicode"/>
              <a:cs typeface="Lucida Sans Unicode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08305">
              <a:lnSpc>
                <a:spcPct val="100000"/>
              </a:lnSpc>
              <a:spcBef>
                <a:spcPts val="100"/>
              </a:spcBef>
            </a:pPr>
            <a:r>
              <a:rPr dirty="0" spc="-1135"/>
              <a:t>OS</a:t>
            </a:r>
            <a:r>
              <a:rPr dirty="0" spc="-585"/>
              <a:t> </a:t>
            </a:r>
            <a:r>
              <a:rPr dirty="0" spc="-1420"/>
              <a:t>CONCEPTS</a:t>
            </a:r>
            <a:r>
              <a:rPr dirty="0" spc="-585"/>
              <a:t> </a:t>
            </a:r>
            <a:r>
              <a:rPr dirty="0" spc="-1305"/>
              <a:t>USED</a:t>
            </a: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783217" y="0"/>
            <a:ext cx="3504783" cy="31368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851347" cy="35051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3425" y="542925"/>
            <a:ext cx="9201149" cy="92011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31752" y="4030526"/>
            <a:ext cx="177479" cy="17747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31752" y="4740444"/>
            <a:ext cx="177479" cy="1774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31752" y="5450363"/>
            <a:ext cx="177479" cy="1774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31752" y="6160281"/>
            <a:ext cx="177479" cy="1774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31752" y="6870200"/>
            <a:ext cx="177479" cy="17747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31752" y="7580117"/>
            <a:ext cx="177479" cy="17747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31752" y="8290036"/>
            <a:ext cx="177479" cy="17747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867399" y="2951411"/>
            <a:ext cx="10677525" cy="5704840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algn="ctr" marR="859155">
              <a:lnSpc>
                <a:spcPct val="100000"/>
              </a:lnSpc>
              <a:spcBef>
                <a:spcPts val="885"/>
              </a:spcBef>
            </a:pPr>
            <a:r>
              <a:rPr dirty="0" sz="4000" spc="100">
                <a:solidFill>
                  <a:srgbClr val="FFFFFF"/>
                </a:solidFill>
                <a:latin typeface="Lucida Sans Unicode"/>
                <a:cs typeface="Lucida Sans Unicode"/>
              </a:rPr>
              <a:t>Software</a:t>
            </a:r>
            <a:r>
              <a:rPr dirty="0" sz="40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75">
                <a:solidFill>
                  <a:srgbClr val="FFFFFF"/>
                </a:solidFill>
                <a:latin typeface="Lucida Sans Unicode"/>
                <a:cs typeface="Lucida Sans Unicode"/>
              </a:rPr>
              <a:t>Used</a:t>
            </a:r>
            <a:endParaRPr sz="4000">
              <a:latin typeface="Lucida Sans Unicode"/>
              <a:cs typeface="Lucida Sans Unicode"/>
            </a:endParaRPr>
          </a:p>
          <a:p>
            <a:pPr algn="ctr" marL="1113790" marR="1106170">
              <a:lnSpc>
                <a:spcPts val="5590"/>
              </a:lnSpc>
              <a:spcBef>
                <a:spcPts val="320"/>
              </a:spcBef>
            </a:pPr>
            <a:r>
              <a:rPr dirty="0" sz="4000" spc="90">
                <a:solidFill>
                  <a:srgbClr val="FFFFFF"/>
                </a:solidFill>
                <a:latin typeface="Lucida Sans Unicode"/>
                <a:cs typeface="Lucida Sans Unicode"/>
              </a:rPr>
              <a:t>Operating</a:t>
            </a:r>
            <a:r>
              <a:rPr dirty="0" sz="40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75">
                <a:solidFill>
                  <a:srgbClr val="FFFFFF"/>
                </a:solidFill>
                <a:latin typeface="Lucida Sans Unicode"/>
                <a:cs typeface="Lucida Sans Unicode"/>
              </a:rPr>
              <a:t>System:</a:t>
            </a:r>
            <a:r>
              <a:rPr dirty="0" sz="40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210">
                <a:solidFill>
                  <a:srgbClr val="FFFFFF"/>
                </a:solidFill>
                <a:latin typeface="Lucida Sans Unicode"/>
                <a:cs typeface="Lucida Sans Unicode"/>
              </a:rPr>
              <a:t>Linux</a:t>
            </a:r>
            <a:r>
              <a:rPr dirty="0" sz="40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195">
                <a:solidFill>
                  <a:srgbClr val="FFFFFF"/>
                </a:solidFill>
                <a:latin typeface="Lucida Sans Unicode"/>
                <a:cs typeface="Lucida Sans Unicode"/>
              </a:rPr>
              <a:t>/</a:t>
            </a:r>
            <a:r>
              <a:rPr dirty="0" sz="4000" spc="-1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10">
                <a:solidFill>
                  <a:srgbClr val="FFFFFF"/>
                </a:solidFill>
                <a:latin typeface="Lucida Sans Unicode"/>
                <a:cs typeface="Lucida Sans Unicode"/>
              </a:rPr>
              <a:t>Ubuntu </a:t>
            </a:r>
            <a:r>
              <a:rPr dirty="0" sz="4000" spc="125">
                <a:solidFill>
                  <a:srgbClr val="FFFFFF"/>
                </a:solidFill>
                <a:latin typeface="Lucida Sans Unicode"/>
                <a:cs typeface="Lucida Sans Unicode"/>
              </a:rPr>
              <a:t>Programming</a:t>
            </a:r>
            <a:r>
              <a:rPr dirty="0" sz="4000" spc="-1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100">
                <a:solidFill>
                  <a:srgbClr val="FFFFFF"/>
                </a:solidFill>
                <a:latin typeface="Lucida Sans Unicode"/>
                <a:cs typeface="Lucida Sans Unicode"/>
              </a:rPr>
              <a:t>Language:</a:t>
            </a:r>
            <a:r>
              <a:rPr dirty="0" sz="4000" spc="-1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280">
                <a:solidFill>
                  <a:srgbClr val="FFFFFF"/>
                </a:solidFill>
                <a:latin typeface="Lucida Sans Unicode"/>
                <a:cs typeface="Lucida Sans Unicode"/>
              </a:rPr>
              <a:t>C</a:t>
            </a:r>
            <a:endParaRPr sz="4000">
              <a:latin typeface="Lucida Sans Unicode"/>
              <a:cs typeface="Lucida Sans Unicode"/>
            </a:endParaRPr>
          </a:p>
          <a:p>
            <a:pPr algn="ctr" marL="12700" marR="5080">
              <a:lnSpc>
                <a:spcPts val="5590"/>
              </a:lnSpc>
            </a:pPr>
            <a:r>
              <a:rPr dirty="0" sz="4000">
                <a:solidFill>
                  <a:srgbClr val="FFFFFF"/>
                </a:solidFill>
                <a:latin typeface="Lucida Sans Unicode"/>
                <a:cs typeface="Lucida Sans Unicode"/>
              </a:rPr>
              <a:t>Compiler:</a:t>
            </a:r>
            <a:r>
              <a:rPr dirty="0" sz="40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290">
                <a:solidFill>
                  <a:srgbClr val="FFFFFF"/>
                </a:solidFill>
                <a:latin typeface="Lucida Sans Unicode"/>
                <a:cs typeface="Lucida Sans Unicode"/>
              </a:rPr>
              <a:t>GCC</a:t>
            </a:r>
            <a:r>
              <a:rPr dirty="0" sz="40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125">
                <a:solidFill>
                  <a:srgbClr val="FFFFFF"/>
                </a:solidFill>
                <a:latin typeface="Lucida Sans Unicode"/>
                <a:cs typeface="Lucida Sans Unicode"/>
              </a:rPr>
              <a:t>(GNU</a:t>
            </a:r>
            <a:r>
              <a:rPr dirty="0" sz="40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85">
                <a:solidFill>
                  <a:srgbClr val="FFFFFF"/>
                </a:solidFill>
                <a:latin typeface="Lucida Sans Unicode"/>
                <a:cs typeface="Lucida Sans Unicode"/>
              </a:rPr>
              <a:t>Compiler</a:t>
            </a:r>
            <a:r>
              <a:rPr dirty="0" sz="40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85">
                <a:solidFill>
                  <a:srgbClr val="FFFFFF"/>
                </a:solidFill>
                <a:latin typeface="Lucida Sans Unicode"/>
                <a:cs typeface="Lucida Sans Unicode"/>
              </a:rPr>
              <a:t>Collection) </a:t>
            </a:r>
            <a:r>
              <a:rPr dirty="0" sz="4000" spc="215">
                <a:solidFill>
                  <a:srgbClr val="FFFFFF"/>
                </a:solidFill>
                <a:latin typeface="Lucida Sans Unicode"/>
                <a:cs typeface="Lucida Sans Unicode"/>
              </a:rPr>
              <a:t>Code</a:t>
            </a:r>
            <a:r>
              <a:rPr dirty="0" sz="40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90">
                <a:solidFill>
                  <a:srgbClr val="FFFFFF"/>
                </a:solidFill>
                <a:latin typeface="Lucida Sans Unicode"/>
                <a:cs typeface="Lucida Sans Unicode"/>
              </a:rPr>
              <a:t>Editor:</a:t>
            </a:r>
            <a:r>
              <a:rPr dirty="0" sz="40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>
                <a:solidFill>
                  <a:srgbClr val="FFFFFF"/>
                </a:solidFill>
                <a:latin typeface="Lucida Sans Unicode"/>
                <a:cs typeface="Lucida Sans Unicode"/>
              </a:rPr>
              <a:t>Visual</a:t>
            </a:r>
            <a:r>
              <a:rPr dirty="0" sz="40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50">
                <a:solidFill>
                  <a:srgbClr val="FFFFFF"/>
                </a:solidFill>
                <a:latin typeface="Lucida Sans Unicode"/>
                <a:cs typeface="Lucida Sans Unicode"/>
              </a:rPr>
              <a:t>Studio</a:t>
            </a:r>
            <a:r>
              <a:rPr dirty="0" sz="4000" spc="-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195">
                <a:solidFill>
                  <a:srgbClr val="FFFFFF"/>
                </a:solidFill>
                <a:latin typeface="Lucida Sans Unicode"/>
                <a:cs typeface="Lucida Sans Unicode"/>
              </a:rPr>
              <a:t>Code</a:t>
            </a:r>
            <a:endParaRPr sz="40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dirty="0" sz="4000" spc="-10">
                <a:solidFill>
                  <a:srgbClr val="FFFFFF"/>
                </a:solidFill>
                <a:latin typeface="Lucida Sans Unicode"/>
                <a:cs typeface="Lucida Sans Unicode"/>
              </a:rPr>
              <a:t>Terminal:</a:t>
            </a:r>
            <a:r>
              <a:rPr dirty="0" sz="4000" spc="-210">
                <a:solidFill>
                  <a:srgbClr val="FFFFFF"/>
                </a:solidFill>
                <a:latin typeface="Lucida Sans Unicode"/>
                <a:cs typeface="Lucida Sans Unicode"/>
              </a:rPr>
              <a:t> Linux</a:t>
            </a:r>
            <a:r>
              <a:rPr dirty="0" sz="4000" spc="-1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10">
                <a:solidFill>
                  <a:srgbClr val="FFFFFF"/>
                </a:solidFill>
                <a:latin typeface="Lucida Sans Unicode"/>
                <a:cs typeface="Lucida Sans Unicode"/>
              </a:rPr>
              <a:t>Terminal</a:t>
            </a:r>
            <a:endParaRPr sz="4000">
              <a:latin typeface="Lucida Sans Unicode"/>
              <a:cs typeface="Lucida Sans Unicode"/>
            </a:endParaRPr>
          </a:p>
          <a:p>
            <a:pPr algn="ctr" marL="260350" marR="253365">
              <a:lnSpc>
                <a:spcPts val="5590"/>
              </a:lnSpc>
              <a:spcBef>
                <a:spcPts val="120"/>
              </a:spcBef>
            </a:pPr>
            <a:r>
              <a:rPr dirty="0" sz="4000" spc="155">
                <a:solidFill>
                  <a:srgbClr val="FFFFFF"/>
                </a:solidFill>
                <a:latin typeface="Lucida Sans Unicode"/>
                <a:cs typeface="Lucida Sans Unicode"/>
              </a:rPr>
              <a:t>System</a:t>
            </a:r>
            <a:r>
              <a:rPr dirty="0" sz="40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>
                <a:solidFill>
                  <a:srgbClr val="FFFFFF"/>
                </a:solidFill>
                <a:latin typeface="Lucida Sans Unicode"/>
                <a:cs typeface="Lucida Sans Unicode"/>
              </a:rPr>
              <a:t>Calls:</a:t>
            </a:r>
            <a:r>
              <a:rPr dirty="0" sz="4000" spc="-1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>
                <a:solidFill>
                  <a:srgbClr val="FFFFFF"/>
                </a:solidFill>
                <a:latin typeface="Lucida Sans Unicode"/>
                <a:cs typeface="Lucida Sans Unicode"/>
              </a:rPr>
              <a:t>fork(),</a:t>
            </a:r>
            <a:r>
              <a:rPr dirty="0" sz="4000" spc="-1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120">
                <a:solidFill>
                  <a:srgbClr val="FFFFFF"/>
                </a:solidFill>
                <a:latin typeface="Lucida Sans Unicode"/>
                <a:cs typeface="Lucida Sans Unicode"/>
              </a:rPr>
              <a:t>exec(),</a:t>
            </a:r>
            <a:r>
              <a:rPr dirty="0" sz="4000" spc="-1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135">
                <a:solidFill>
                  <a:srgbClr val="FFFFFF"/>
                </a:solidFill>
                <a:latin typeface="Lucida Sans Unicode"/>
                <a:cs typeface="Lucida Sans Unicode"/>
              </a:rPr>
              <a:t>wait(),</a:t>
            </a:r>
            <a:r>
              <a:rPr dirty="0" sz="4000" spc="-1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70">
                <a:solidFill>
                  <a:srgbClr val="FFFFFF"/>
                </a:solidFill>
                <a:latin typeface="Lucida Sans Unicode"/>
                <a:cs typeface="Lucida Sans Unicode"/>
              </a:rPr>
              <a:t>exit() </a:t>
            </a:r>
            <a:r>
              <a:rPr dirty="0" sz="4000">
                <a:solidFill>
                  <a:srgbClr val="FFFFFF"/>
                </a:solidFill>
                <a:latin typeface="Lucida Sans Unicode"/>
                <a:cs typeface="Lucida Sans Unicode"/>
              </a:rPr>
              <a:t>Version</a:t>
            </a:r>
            <a:r>
              <a:rPr dirty="0" sz="4000" spc="-1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20">
                <a:solidFill>
                  <a:srgbClr val="FFFFFF"/>
                </a:solidFill>
                <a:latin typeface="Lucida Sans Unicode"/>
                <a:cs typeface="Lucida Sans Unicode"/>
              </a:rPr>
              <a:t>Control:</a:t>
            </a:r>
            <a:r>
              <a:rPr dirty="0" sz="4000" spc="-1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-10">
                <a:solidFill>
                  <a:srgbClr val="FFFFFF"/>
                </a:solidFill>
                <a:latin typeface="Lucida Sans Unicode"/>
                <a:cs typeface="Lucida Sans Unicode"/>
              </a:rPr>
              <a:t>Git/GitHub</a:t>
            </a:r>
            <a:r>
              <a:rPr dirty="0" sz="4000" spc="-1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4000" spc="140">
                <a:solidFill>
                  <a:srgbClr val="FFFFFF"/>
                </a:solidFill>
                <a:latin typeface="Lucida Sans Unicode"/>
                <a:cs typeface="Lucida Sans Unicode"/>
              </a:rPr>
              <a:t>(optional)</a:t>
            </a:r>
            <a:endParaRPr sz="4000">
              <a:latin typeface="Lucida Sans Unicode"/>
              <a:cs typeface="Lucida Sans Unicode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5871795" y="347851"/>
            <a:ext cx="8375650" cy="17887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50" spc="-1670"/>
              <a:t>SOFTWARE</a:t>
            </a:r>
            <a:r>
              <a:rPr dirty="0" sz="11550" spc="-700"/>
              <a:t> </a:t>
            </a:r>
            <a:r>
              <a:rPr dirty="0" sz="11550" spc="-1555"/>
              <a:t>USED</a:t>
            </a:r>
            <a:endParaRPr sz="115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523105" cy="10276840"/>
            <a:chOff x="0" y="0"/>
            <a:chExt cx="4523105" cy="10276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523075" cy="43832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033805"/>
              <a:ext cx="3777226" cy="924258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78304"/>
              <a:ext cx="41275" cy="440055"/>
            </a:xfrm>
            <a:custGeom>
              <a:avLst/>
              <a:gdLst/>
              <a:ahLst/>
              <a:cxnLst/>
              <a:rect l="l" t="t" r="r" b="b"/>
              <a:pathLst>
                <a:path w="41275" h="440055">
                  <a:moveTo>
                    <a:pt x="0" y="231285"/>
                  </a:moveTo>
                  <a:lnTo>
                    <a:pt x="0" y="181334"/>
                  </a:lnTo>
                  <a:lnTo>
                    <a:pt x="4334" y="164975"/>
                  </a:lnTo>
                  <a:lnTo>
                    <a:pt x="7128" y="148046"/>
                  </a:lnTo>
                  <a:lnTo>
                    <a:pt x="8219" y="131117"/>
                  </a:lnTo>
                  <a:lnTo>
                    <a:pt x="3111" y="114188"/>
                  </a:lnTo>
                  <a:lnTo>
                    <a:pt x="0" y="104189"/>
                  </a:lnTo>
                  <a:lnTo>
                    <a:pt x="0" y="0"/>
                  </a:lnTo>
                  <a:lnTo>
                    <a:pt x="304" y="522"/>
                  </a:lnTo>
                  <a:lnTo>
                    <a:pt x="3079" y="7777"/>
                  </a:lnTo>
                  <a:lnTo>
                    <a:pt x="5799" y="15032"/>
                  </a:lnTo>
                  <a:lnTo>
                    <a:pt x="8460" y="24706"/>
                  </a:lnTo>
                  <a:lnTo>
                    <a:pt x="12408" y="34380"/>
                  </a:lnTo>
                  <a:lnTo>
                    <a:pt x="15598" y="44054"/>
                  </a:lnTo>
                  <a:lnTo>
                    <a:pt x="18702" y="56146"/>
                  </a:lnTo>
                  <a:lnTo>
                    <a:pt x="21690" y="65819"/>
                  </a:lnTo>
                  <a:lnTo>
                    <a:pt x="34440" y="126280"/>
                  </a:lnTo>
                  <a:lnTo>
                    <a:pt x="39386" y="164975"/>
                  </a:lnTo>
                  <a:lnTo>
                    <a:pt x="40539" y="181334"/>
                  </a:lnTo>
                  <a:lnTo>
                    <a:pt x="40580" y="181904"/>
                  </a:lnTo>
                  <a:lnTo>
                    <a:pt x="40757" y="186741"/>
                  </a:lnTo>
                  <a:lnTo>
                    <a:pt x="40846" y="189160"/>
                  </a:lnTo>
                  <a:lnTo>
                    <a:pt x="41208" y="193996"/>
                  </a:lnTo>
                  <a:lnTo>
                    <a:pt x="18667" y="193996"/>
                  </a:lnTo>
                  <a:lnTo>
                    <a:pt x="17240" y="198833"/>
                  </a:lnTo>
                  <a:lnTo>
                    <a:pt x="15692" y="201252"/>
                  </a:lnTo>
                  <a:lnTo>
                    <a:pt x="13999" y="206089"/>
                  </a:lnTo>
                  <a:lnTo>
                    <a:pt x="7817" y="218181"/>
                  </a:lnTo>
                  <a:lnTo>
                    <a:pt x="676" y="230273"/>
                  </a:lnTo>
                  <a:lnTo>
                    <a:pt x="0" y="231285"/>
                  </a:lnTo>
                  <a:close/>
                </a:path>
                <a:path w="41275" h="440055">
                  <a:moveTo>
                    <a:pt x="33148" y="322173"/>
                  </a:moveTo>
                  <a:lnTo>
                    <a:pt x="5220" y="322173"/>
                  </a:lnTo>
                  <a:lnTo>
                    <a:pt x="10243" y="302826"/>
                  </a:lnTo>
                  <a:lnTo>
                    <a:pt x="14205" y="283478"/>
                  </a:lnTo>
                  <a:lnTo>
                    <a:pt x="17097" y="264131"/>
                  </a:lnTo>
                  <a:lnTo>
                    <a:pt x="18456" y="249620"/>
                  </a:lnTo>
                  <a:lnTo>
                    <a:pt x="18575" y="218181"/>
                  </a:lnTo>
                  <a:lnTo>
                    <a:pt x="18667" y="193996"/>
                  </a:lnTo>
                  <a:lnTo>
                    <a:pt x="41208" y="193996"/>
                  </a:lnTo>
                  <a:lnTo>
                    <a:pt x="41117" y="218181"/>
                  </a:lnTo>
                  <a:lnTo>
                    <a:pt x="40998" y="249620"/>
                  </a:lnTo>
                  <a:lnTo>
                    <a:pt x="40979" y="254457"/>
                  </a:lnTo>
                  <a:lnTo>
                    <a:pt x="40689" y="259294"/>
                  </a:lnTo>
                  <a:lnTo>
                    <a:pt x="40162" y="266549"/>
                  </a:lnTo>
                  <a:lnTo>
                    <a:pt x="39540" y="273805"/>
                  </a:lnTo>
                  <a:lnTo>
                    <a:pt x="39008" y="278642"/>
                  </a:lnTo>
                  <a:lnTo>
                    <a:pt x="37629" y="293152"/>
                  </a:lnTo>
                  <a:lnTo>
                    <a:pt x="36686" y="297989"/>
                  </a:lnTo>
                  <a:lnTo>
                    <a:pt x="30360" y="300376"/>
                  </a:lnTo>
                  <a:lnTo>
                    <a:pt x="36278" y="300376"/>
                  </a:lnTo>
                  <a:lnTo>
                    <a:pt x="34514" y="314918"/>
                  </a:lnTo>
                  <a:lnTo>
                    <a:pt x="33148" y="322173"/>
                  </a:lnTo>
                  <a:close/>
                </a:path>
                <a:path w="41275" h="440055">
                  <a:moveTo>
                    <a:pt x="0" y="439484"/>
                  </a:moveTo>
                  <a:lnTo>
                    <a:pt x="0" y="300376"/>
                  </a:lnTo>
                  <a:lnTo>
                    <a:pt x="709" y="302826"/>
                  </a:lnTo>
                  <a:lnTo>
                    <a:pt x="3148" y="312500"/>
                  </a:lnTo>
                  <a:lnTo>
                    <a:pt x="5220" y="322173"/>
                  </a:lnTo>
                  <a:lnTo>
                    <a:pt x="33148" y="322173"/>
                  </a:lnTo>
                  <a:lnTo>
                    <a:pt x="32692" y="324592"/>
                  </a:lnTo>
                  <a:lnTo>
                    <a:pt x="30775" y="336684"/>
                  </a:lnTo>
                  <a:lnTo>
                    <a:pt x="28729" y="343939"/>
                  </a:lnTo>
                  <a:lnTo>
                    <a:pt x="27060" y="353613"/>
                  </a:lnTo>
                  <a:lnTo>
                    <a:pt x="25173" y="360868"/>
                  </a:lnTo>
                  <a:lnTo>
                    <a:pt x="22102" y="372960"/>
                  </a:lnTo>
                  <a:lnTo>
                    <a:pt x="20554" y="377797"/>
                  </a:lnTo>
                  <a:lnTo>
                    <a:pt x="18837" y="385053"/>
                  </a:lnTo>
                  <a:lnTo>
                    <a:pt x="17047" y="389889"/>
                  </a:lnTo>
                  <a:lnTo>
                    <a:pt x="10263" y="411655"/>
                  </a:lnTo>
                  <a:lnTo>
                    <a:pt x="3859" y="428584"/>
                  </a:lnTo>
                  <a:lnTo>
                    <a:pt x="0" y="439484"/>
                  </a:lnTo>
                  <a:close/>
                </a:path>
              </a:pathLst>
            </a:custGeom>
            <a:solidFill>
              <a:srgbClr val="80818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17122" y="4900272"/>
            <a:ext cx="4370877" cy="538672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58360" y="3122078"/>
            <a:ext cx="153672" cy="15367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58360" y="4295573"/>
            <a:ext cx="153672" cy="15367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58360" y="4882321"/>
            <a:ext cx="153672" cy="15367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58360" y="5469069"/>
            <a:ext cx="153672" cy="15367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58360" y="6055817"/>
            <a:ext cx="153672" cy="15367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58360" y="6642565"/>
            <a:ext cx="153672" cy="15367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58360" y="7816060"/>
            <a:ext cx="153672" cy="153672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5"/>
              </a:spcBef>
            </a:pPr>
            <a:r>
              <a:rPr dirty="0" spc="80"/>
              <a:t>Successfully</a:t>
            </a:r>
            <a:r>
              <a:rPr dirty="0" spc="260"/>
              <a:t>  </a:t>
            </a:r>
            <a:r>
              <a:rPr dirty="0" spc="170"/>
              <a:t>create</a:t>
            </a:r>
            <a:r>
              <a:rPr dirty="0" spc="260"/>
              <a:t>  </a:t>
            </a:r>
            <a:r>
              <a:rPr dirty="0" spc="120"/>
              <a:t>parent</a:t>
            </a:r>
            <a:r>
              <a:rPr dirty="0" spc="265"/>
              <a:t>  </a:t>
            </a:r>
            <a:r>
              <a:rPr dirty="0" spc="220"/>
              <a:t>and</a:t>
            </a:r>
            <a:r>
              <a:rPr dirty="0" spc="260"/>
              <a:t>  </a:t>
            </a:r>
            <a:r>
              <a:rPr dirty="0" spc="55"/>
              <a:t>child</a:t>
            </a:r>
            <a:r>
              <a:rPr dirty="0" spc="260"/>
              <a:t>  </a:t>
            </a:r>
            <a:r>
              <a:rPr dirty="0" spc="105"/>
              <a:t>processes</a:t>
            </a:r>
            <a:r>
              <a:rPr dirty="0" spc="260"/>
              <a:t>  </a:t>
            </a:r>
            <a:r>
              <a:rPr dirty="0" spc="-10"/>
              <a:t>using fork().</a:t>
            </a:r>
          </a:p>
          <a:p>
            <a:pPr marL="12700" marR="1395095">
              <a:lnSpc>
                <a:spcPct val="114900"/>
              </a:lnSpc>
            </a:pPr>
            <a:r>
              <a:rPr dirty="0"/>
              <a:t>Execute</a:t>
            </a:r>
            <a:r>
              <a:rPr dirty="0" spc="-15"/>
              <a:t> </a:t>
            </a:r>
            <a:r>
              <a:rPr dirty="0"/>
              <a:t>different</a:t>
            </a:r>
            <a:r>
              <a:rPr dirty="0" spc="-10"/>
              <a:t> </a:t>
            </a:r>
            <a:r>
              <a:rPr dirty="0" spc="120"/>
              <a:t>programs</a:t>
            </a:r>
            <a:r>
              <a:rPr dirty="0" spc="-10"/>
              <a:t> </a:t>
            </a:r>
            <a:r>
              <a:rPr dirty="0"/>
              <a:t>using</a:t>
            </a:r>
            <a:r>
              <a:rPr dirty="0" spc="-10"/>
              <a:t> </a:t>
            </a:r>
            <a:r>
              <a:rPr dirty="0" spc="105"/>
              <a:t>exec().</a:t>
            </a:r>
            <a:r>
              <a:rPr dirty="0" spc="105"/>
              <a:t>  </a:t>
            </a:r>
            <a:r>
              <a:rPr dirty="0"/>
              <a:t>Synchronize</a:t>
            </a:r>
            <a:r>
              <a:rPr dirty="0" spc="-35"/>
              <a:t> </a:t>
            </a:r>
            <a:r>
              <a:rPr dirty="0" spc="120"/>
              <a:t>parent</a:t>
            </a:r>
            <a:r>
              <a:rPr dirty="0" spc="-30"/>
              <a:t> </a:t>
            </a:r>
            <a:r>
              <a:rPr dirty="0" spc="220"/>
              <a:t>and</a:t>
            </a:r>
            <a:r>
              <a:rPr dirty="0" spc="-35"/>
              <a:t> </a:t>
            </a:r>
            <a:r>
              <a:rPr dirty="0" spc="55"/>
              <a:t>child</a:t>
            </a:r>
            <a:r>
              <a:rPr dirty="0" spc="-30"/>
              <a:t> </a:t>
            </a:r>
            <a:r>
              <a:rPr dirty="0" spc="105"/>
              <a:t>processes</a:t>
            </a:r>
            <a:r>
              <a:rPr dirty="0" spc="-35"/>
              <a:t> </a:t>
            </a:r>
            <a:r>
              <a:rPr dirty="0"/>
              <a:t>using</a:t>
            </a:r>
            <a:r>
              <a:rPr dirty="0" spc="-30"/>
              <a:t> </a:t>
            </a:r>
            <a:r>
              <a:rPr dirty="0" spc="125"/>
              <a:t>wait(). </a:t>
            </a:r>
            <a:r>
              <a:rPr dirty="0"/>
              <a:t>Properly</a:t>
            </a:r>
            <a:r>
              <a:rPr dirty="0" spc="-25"/>
              <a:t> </a:t>
            </a:r>
            <a:r>
              <a:rPr dirty="0" spc="105"/>
              <a:t>terminate</a:t>
            </a:r>
            <a:r>
              <a:rPr dirty="0" spc="-25"/>
              <a:t> </a:t>
            </a:r>
            <a:r>
              <a:rPr dirty="0" spc="105"/>
              <a:t>processes</a:t>
            </a:r>
            <a:r>
              <a:rPr dirty="0" spc="-20"/>
              <a:t> </a:t>
            </a:r>
            <a:r>
              <a:rPr dirty="0"/>
              <a:t>using</a:t>
            </a:r>
            <a:r>
              <a:rPr dirty="0" spc="-25"/>
              <a:t> </a:t>
            </a:r>
            <a:r>
              <a:rPr dirty="0" spc="-10"/>
              <a:t>exit().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pc="45"/>
              <a:t>Display</a:t>
            </a:r>
            <a:r>
              <a:rPr dirty="0" spc="-155"/>
              <a:t> </a:t>
            </a:r>
            <a:r>
              <a:rPr dirty="0" spc="100"/>
              <a:t>process</a:t>
            </a:r>
            <a:r>
              <a:rPr dirty="0" spc="-150"/>
              <a:t> </a:t>
            </a:r>
            <a:r>
              <a:rPr dirty="0" spc="-75"/>
              <a:t>IDs</a:t>
            </a:r>
            <a:r>
              <a:rPr dirty="0" spc="-150"/>
              <a:t> </a:t>
            </a:r>
            <a:r>
              <a:rPr dirty="0" spc="140"/>
              <a:t>(PID)</a:t>
            </a:r>
            <a:r>
              <a:rPr dirty="0" spc="-150"/>
              <a:t> </a:t>
            </a:r>
            <a:r>
              <a:rPr dirty="0" spc="220"/>
              <a:t>and</a:t>
            </a:r>
            <a:r>
              <a:rPr dirty="0" spc="-150"/>
              <a:t> </a:t>
            </a:r>
            <a:r>
              <a:rPr dirty="0" spc="100"/>
              <a:t>process</a:t>
            </a:r>
            <a:r>
              <a:rPr dirty="0" spc="-150"/>
              <a:t> </a:t>
            </a:r>
            <a:r>
              <a:rPr dirty="0" spc="-10"/>
              <a:t>status.</a:t>
            </a:r>
          </a:p>
          <a:p>
            <a:pPr marL="12700" marR="5080">
              <a:lnSpc>
                <a:spcPct val="114900"/>
              </a:lnSpc>
              <a:tabLst>
                <a:tab pos="1988820" algn="l"/>
                <a:tab pos="2670175" algn="l"/>
                <a:tab pos="4143375" algn="l"/>
                <a:tab pos="7703820" algn="l"/>
                <a:tab pos="8510905" algn="l"/>
                <a:tab pos="9599295" algn="l"/>
                <a:tab pos="11036300" algn="l"/>
              </a:tabLst>
            </a:pPr>
            <a:r>
              <a:rPr dirty="0" spc="50"/>
              <a:t>Provide</a:t>
            </a:r>
            <a:r>
              <a:rPr dirty="0"/>
              <a:t>	</a:t>
            </a:r>
            <a:r>
              <a:rPr dirty="0" spc="375"/>
              <a:t>a</a:t>
            </a:r>
            <a:r>
              <a:rPr dirty="0"/>
              <a:t>	</a:t>
            </a:r>
            <a:r>
              <a:rPr dirty="0" spc="125"/>
              <a:t>clear</a:t>
            </a:r>
            <a:r>
              <a:rPr dirty="0"/>
              <a:t>	</a:t>
            </a:r>
            <a:r>
              <a:rPr dirty="0" spc="80"/>
              <a:t>understanding</a:t>
            </a:r>
            <a:r>
              <a:rPr dirty="0"/>
              <a:t>	</a:t>
            </a:r>
            <a:r>
              <a:rPr dirty="0" spc="-25"/>
              <a:t>of</a:t>
            </a:r>
            <a:r>
              <a:rPr dirty="0"/>
              <a:t>	</a:t>
            </a:r>
            <a:r>
              <a:rPr dirty="0" spc="65"/>
              <a:t>the</a:t>
            </a:r>
            <a:r>
              <a:rPr dirty="0"/>
              <a:t>	</a:t>
            </a:r>
            <a:r>
              <a:rPr dirty="0" spc="-10"/>
              <a:t>Linux</a:t>
            </a:r>
            <a:r>
              <a:rPr dirty="0"/>
              <a:t>	</a:t>
            </a:r>
            <a:r>
              <a:rPr dirty="0" spc="90"/>
              <a:t>process </a:t>
            </a:r>
            <a:r>
              <a:rPr dirty="0" spc="-10"/>
              <a:t>lifecycle.</a:t>
            </a:r>
          </a:p>
          <a:p>
            <a:pPr marL="12700" marR="5080">
              <a:lnSpc>
                <a:spcPct val="114900"/>
              </a:lnSpc>
              <a:tabLst>
                <a:tab pos="3319779" algn="l"/>
                <a:tab pos="5732145" algn="l"/>
                <a:tab pos="9674860" algn="l"/>
                <a:tab pos="10586085" algn="l"/>
              </a:tabLst>
            </a:pPr>
            <a:r>
              <a:rPr dirty="0" spc="85"/>
              <a:t>Demonstrate</a:t>
            </a:r>
            <a:r>
              <a:rPr dirty="0"/>
              <a:t>	</a:t>
            </a:r>
            <a:r>
              <a:rPr dirty="0" spc="120"/>
              <a:t>practical</a:t>
            </a:r>
            <a:r>
              <a:rPr dirty="0"/>
              <a:t>	</a:t>
            </a:r>
            <a:r>
              <a:rPr dirty="0" spc="90"/>
              <a:t>implementation</a:t>
            </a:r>
            <a:r>
              <a:rPr dirty="0"/>
              <a:t>	</a:t>
            </a:r>
            <a:r>
              <a:rPr dirty="0" spc="-25"/>
              <a:t>of</a:t>
            </a:r>
            <a:r>
              <a:rPr dirty="0"/>
              <a:t>	</a:t>
            </a:r>
            <a:r>
              <a:rPr dirty="0" spc="70"/>
              <a:t>important </a:t>
            </a:r>
            <a:r>
              <a:rPr dirty="0" spc="90"/>
              <a:t>Operating</a:t>
            </a:r>
            <a:r>
              <a:rPr dirty="0" spc="-160"/>
              <a:t> </a:t>
            </a:r>
            <a:r>
              <a:rPr dirty="0" spc="145"/>
              <a:t>System</a:t>
            </a:r>
            <a:r>
              <a:rPr dirty="0" spc="-155"/>
              <a:t> </a:t>
            </a:r>
            <a:r>
              <a:rPr dirty="0" spc="80"/>
              <a:t>concepts.</a:t>
            </a:r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6976207" y="856009"/>
            <a:ext cx="5624195" cy="1006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400" spc="-965"/>
              <a:t>EXPECTED</a:t>
            </a:r>
            <a:r>
              <a:rPr dirty="0" sz="6400" spc="-370"/>
              <a:t> </a:t>
            </a:r>
            <a:r>
              <a:rPr dirty="0" sz="6400" spc="-1050"/>
              <a:t>OUTCOME</a:t>
            </a:r>
            <a:endParaRPr sz="6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202810"/>
            <a:ext cx="2878328" cy="208303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1491" y="542925"/>
            <a:ext cx="9201149" cy="92011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9973" y="3533829"/>
            <a:ext cx="137078" cy="13707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9973" y="4082144"/>
            <a:ext cx="137078" cy="13707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9973" y="4630459"/>
            <a:ext cx="137078" cy="13707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9973" y="5178775"/>
            <a:ext cx="137078" cy="13707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59973" y="6275406"/>
            <a:ext cx="137078" cy="13707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59973" y="6823721"/>
            <a:ext cx="137078" cy="13707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9973" y="7920352"/>
            <a:ext cx="137078" cy="13707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036951" y="3245783"/>
            <a:ext cx="14872969" cy="496062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95"/>
              </a:spcBef>
            </a:pPr>
            <a:r>
              <a:rPr dirty="0" sz="3100" spc="65">
                <a:solidFill>
                  <a:srgbClr val="FFFFFF"/>
                </a:solidFill>
                <a:latin typeface="Lucida Sans Unicode"/>
                <a:cs typeface="Lucida Sans Unicode"/>
              </a:rPr>
              <a:t>Add</a:t>
            </a:r>
            <a:r>
              <a:rPr dirty="0" sz="3100" spc="-1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375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3100" spc="-1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105">
                <a:solidFill>
                  <a:srgbClr val="FFFFFF"/>
                </a:solidFill>
                <a:latin typeface="Lucida Sans Unicode"/>
                <a:cs typeface="Lucida Sans Unicode"/>
              </a:rPr>
              <a:t>Graphical</a:t>
            </a:r>
            <a:r>
              <a:rPr dirty="0" sz="3100" spc="-1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User</a:t>
            </a:r>
            <a:r>
              <a:rPr dirty="0" sz="31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70">
                <a:solidFill>
                  <a:srgbClr val="FFFFFF"/>
                </a:solidFill>
                <a:latin typeface="Lucida Sans Unicode"/>
                <a:cs typeface="Lucida Sans Unicode"/>
              </a:rPr>
              <a:t>Interface</a:t>
            </a:r>
            <a:r>
              <a:rPr dirty="0" sz="3100" spc="-1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145">
                <a:solidFill>
                  <a:srgbClr val="FFFFFF"/>
                </a:solidFill>
                <a:latin typeface="Lucida Sans Unicode"/>
                <a:cs typeface="Lucida Sans Unicode"/>
              </a:rPr>
              <a:t>(GUI)</a:t>
            </a:r>
            <a:r>
              <a:rPr dirty="0" sz="3100" spc="-1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45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310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80">
                <a:solidFill>
                  <a:srgbClr val="FFFFFF"/>
                </a:solidFill>
                <a:latin typeface="Lucida Sans Unicode"/>
                <a:cs typeface="Lucida Sans Unicode"/>
              </a:rPr>
              <a:t>easier</a:t>
            </a:r>
            <a:r>
              <a:rPr dirty="0" sz="3100" spc="-1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Lucida Sans Unicode"/>
                <a:cs typeface="Lucida Sans Unicode"/>
              </a:rPr>
              <a:t>interaction.</a:t>
            </a:r>
            <a:endParaRPr sz="31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Display</a:t>
            </a:r>
            <a:r>
              <a:rPr dirty="0" sz="31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90">
                <a:solidFill>
                  <a:srgbClr val="FFFFFF"/>
                </a:solidFill>
                <a:latin typeface="Lucida Sans Unicode"/>
                <a:cs typeface="Lucida Sans Unicode"/>
              </a:rPr>
              <a:t>processes</a:t>
            </a:r>
            <a:r>
              <a:rPr dirty="0" sz="31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18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310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their</a:t>
            </a:r>
            <a:r>
              <a:rPr dirty="0" sz="31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85">
                <a:solidFill>
                  <a:srgbClr val="FFFFFF"/>
                </a:solidFill>
                <a:latin typeface="Lucida Sans Unicode"/>
                <a:cs typeface="Lucida Sans Unicode"/>
              </a:rPr>
              <a:t>states</a:t>
            </a:r>
            <a:r>
              <a:rPr dirty="0" sz="31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310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70">
                <a:solidFill>
                  <a:srgbClr val="FFFFFF"/>
                </a:solidFill>
                <a:latin typeface="Lucida Sans Unicode"/>
                <a:cs typeface="Lucida Sans Unicode"/>
              </a:rPr>
              <a:t>real</a:t>
            </a:r>
            <a:r>
              <a:rPr dirty="0" sz="3100" spc="-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Lucida Sans Unicode"/>
                <a:cs typeface="Lucida Sans Unicode"/>
              </a:rPr>
              <a:t>time.</a:t>
            </a:r>
            <a:endParaRPr sz="31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595"/>
              </a:spcBef>
            </a:pPr>
            <a:r>
              <a:rPr dirty="0" sz="3100" spc="65">
                <a:solidFill>
                  <a:srgbClr val="FFFFFF"/>
                </a:solidFill>
                <a:latin typeface="Lucida Sans Unicode"/>
                <a:cs typeface="Lucida Sans Unicode"/>
              </a:rPr>
              <a:t>Add</a:t>
            </a:r>
            <a:r>
              <a:rPr dirty="0" sz="31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85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31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monitoring</a:t>
            </a:r>
            <a:r>
              <a:rPr dirty="0" sz="31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using</a:t>
            </a:r>
            <a:r>
              <a:rPr dirty="0" sz="31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55">
                <a:solidFill>
                  <a:srgbClr val="FFFFFF"/>
                </a:solidFill>
                <a:latin typeface="Lucida Sans Unicode"/>
                <a:cs typeface="Lucida Sans Unicode"/>
              </a:rPr>
              <a:t>PID,</a:t>
            </a:r>
            <a:r>
              <a:rPr dirty="0" sz="31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75">
                <a:solidFill>
                  <a:srgbClr val="FFFFFF"/>
                </a:solidFill>
                <a:latin typeface="Lucida Sans Unicode"/>
                <a:cs typeface="Lucida Sans Unicode"/>
              </a:rPr>
              <a:t>CPU</a:t>
            </a:r>
            <a:r>
              <a:rPr dirty="0" sz="31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65">
                <a:solidFill>
                  <a:srgbClr val="FFFFFF"/>
                </a:solidFill>
                <a:latin typeface="Lucida Sans Unicode"/>
                <a:cs typeface="Lucida Sans Unicode"/>
              </a:rPr>
              <a:t>usage,</a:t>
            </a:r>
            <a:r>
              <a:rPr dirty="0" sz="31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18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31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135">
                <a:solidFill>
                  <a:srgbClr val="FFFFFF"/>
                </a:solidFill>
                <a:latin typeface="Lucida Sans Unicode"/>
                <a:cs typeface="Lucida Sans Unicode"/>
              </a:rPr>
              <a:t>memory</a:t>
            </a:r>
            <a:r>
              <a:rPr dirty="0" sz="31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65">
                <a:solidFill>
                  <a:srgbClr val="FFFFFF"/>
                </a:solidFill>
                <a:latin typeface="Lucida Sans Unicode"/>
                <a:cs typeface="Lucida Sans Unicode"/>
              </a:rPr>
              <a:t>usage.</a:t>
            </a:r>
            <a:endParaRPr sz="3100">
              <a:latin typeface="Lucida Sans Unicode"/>
              <a:cs typeface="Lucida Sans Unicode"/>
            </a:endParaRPr>
          </a:p>
          <a:p>
            <a:pPr algn="ctr" marL="12700" marR="5080">
              <a:lnSpc>
                <a:spcPts val="4320"/>
              </a:lnSpc>
              <a:spcBef>
                <a:spcPts val="240"/>
              </a:spcBef>
            </a:pPr>
            <a:r>
              <a:rPr dirty="0" sz="3100" spc="50">
                <a:solidFill>
                  <a:srgbClr val="FFFFFF"/>
                </a:solidFill>
                <a:latin typeface="Lucida Sans Unicode"/>
                <a:cs typeface="Lucida Sans Unicode"/>
              </a:rPr>
              <a:t>Support</a:t>
            </a:r>
            <a:r>
              <a:rPr dirty="0" sz="31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85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31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60">
                <a:solidFill>
                  <a:srgbClr val="FFFFFF"/>
                </a:solidFill>
                <a:latin typeface="Lucida Sans Unicode"/>
                <a:cs typeface="Lucida Sans Unicode"/>
              </a:rPr>
              <a:t>scheduling</a:t>
            </a:r>
            <a:r>
              <a:rPr dirty="0" sz="31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50">
                <a:solidFill>
                  <a:srgbClr val="FFFFFF"/>
                </a:solidFill>
                <a:latin typeface="Lucida Sans Unicode"/>
                <a:cs typeface="Lucida Sans Unicode"/>
              </a:rPr>
              <a:t>algorithms</a:t>
            </a:r>
            <a:r>
              <a:rPr dirty="0" sz="31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100">
                <a:solidFill>
                  <a:srgbClr val="FFFFFF"/>
                </a:solidFill>
                <a:latin typeface="Lucida Sans Unicode"/>
                <a:cs typeface="Lucida Sans Unicode"/>
              </a:rPr>
              <a:t>such</a:t>
            </a:r>
            <a:r>
              <a:rPr dirty="0" sz="31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200">
                <a:solidFill>
                  <a:srgbClr val="FFFFFF"/>
                </a:solidFill>
                <a:latin typeface="Lucida Sans Unicode"/>
                <a:cs typeface="Lucida Sans Unicode"/>
              </a:rPr>
              <a:t>as</a:t>
            </a:r>
            <a:r>
              <a:rPr dirty="0" sz="31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35">
                <a:solidFill>
                  <a:srgbClr val="FFFFFF"/>
                </a:solidFill>
                <a:latin typeface="Lucida Sans Unicode"/>
                <a:cs typeface="Lucida Sans Unicode"/>
              </a:rPr>
              <a:t>FCFS,</a:t>
            </a:r>
            <a:r>
              <a:rPr dirty="0" sz="31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80">
                <a:solidFill>
                  <a:srgbClr val="FFFFFF"/>
                </a:solidFill>
                <a:latin typeface="Lucida Sans Unicode"/>
                <a:cs typeface="Lucida Sans Unicode"/>
              </a:rPr>
              <a:t>SJF,</a:t>
            </a:r>
            <a:r>
              <a:rPr dirty="0" sz="31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Round</a:t>
            </a:r>
            <a:r>
              <a:rPr dirty="0" sz="3100" spc="-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60">
                <a:solidFill>
                  <a:srgbClr val="FFFFFF"/>
                </a:solidFill>
                <a:latin typeface="Lucida Sans Unicode"/>
                <a:cs typeface="Lucida Sans Unicode"/>
              </a:rPr>
              <a:t>Robin,</a:t>
            </a:r>
            <a:r>
              <a:rPr dirty="0" sz="31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160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dirty="0" sz="3100" spc="-35">
                <a:solidFill>
                  <a:srgbClr val="FFFFFF"/>
                </a:solidFill>
                <a:latin typeface="Lucida Sans Unicode"/>
                <a:cs typeface="Lucida Sans Unicode"/>
              </a:rPr>
              <a:t>Priority</a:t>
            </a:r>
            <a:r>
              <a:rPr dirty="0" sz="3100" spc="-2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Lucida Sans Unicode"/>
                <a:cs typeface="Lucida Sans Unicode"/>
              </a:rPr>
              <a:t>Scheduling.</a:t>
            </a:r>
            <a:endParaRPr sz="31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355"/>
              </a:spcBef>
            </a:pPr>
            <a:r>
              <a:rPr dirty="0" sz="3100" spc="65">
                <a:solidFill>
                  <a:srgbClr val="FFFFFF"/>
                </a:solidFill>
                <a:latin typeface="Lucida Sans Unicode"/>
                <a:cs typeface="Lucida Sans Unicode"/>
              </a:rPr>
              <a:t>Add</a:t>
            </a:r>
            <a:r>
              <a:rPr dirty="0" sz="31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85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31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control</a:t>
            </a:r>
            <a:r>
              <a:rPr dirty="0" sz="31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65">
                <a:solidFill>
                  <a:srgbClr val="FFFFFF"/>
                </a:solidFill>
                <a:latin typeface="Lucida Sans Unicode"/>
                <a:cs typeface="Lucida Sans Unicode"/>
              </a:rPr>
              <a:t>features</a:t>
            </a:r>
            <a:r>
              <a:rPr dirty="0" sz="31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100">
                <a:solidFill>
                  <a:srgbClr val="FFFFFF"/>
                </a:solidFill>
                <a:latin typeface="Lucida Sans Unicode"/>
                <a:cs typeface="Lucida Sans Unicode"/>
              </a:rPr>
              <a:t>such</a:t>
            </a:r>
            <a:r>
              <a:rPr dirty="0" sz="31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200">
                <a:solidFill>
                  <a:srgbClr val="FFFFFF"/>
                </a:solidFill>
                <a:latin typeface="Lucida Sans Unicode"/>
                <a:cs typeface="Lucida Sans Unicode"/>
              </a:rPr>
              <a:t>as</a:t>
            </a:r>
            <a:r>
              <a:rPr dirty="0" sz="31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65">
                <a:solidFill>
                  <a:srgbClr val="FFFFFF"/>
                </a:solidFill>
                <a:latin typeface="Lucida Sans Unicode"/>
                <a:cs typeface="Lucida Sans Unicode"/>
              </a:rPr>
              <a:t>pause,</a:t>
            </a:r>
            <a:r>
              <a:rPr dirty="0" sz="31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resume,</a:t>
            </a:r>
            <a:r>
              <a:rPr dirty="0" sz="31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18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31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Lucida Sans Unicode"/>
                <a:cs typeface="Lucida Sans Unicode"/>
              </a:rPr>
              <a:t>terminate.</a:t>
            </a:r>
            <a:endParaRPr sz="3100">
              <a:latin typeface="Lucida Sans Unicode"/>
              <a:cs typeface="Lucida Sans Unicode"/>
            </a:endParaRPr>
          </a:p>
          <a:p>
            <a:pPr algn="ctr" marL="492759" marR="485775">
              <a:lnSpc>
                <a:spcPts val="4320"/>
              </a:lnSpc>
              <a:spcBef>
                <a:spcPts val="240"/>
              </a:spcBef>
            </a:pPr>
            <a:r>
              <a:rPr dirty="0" sz="3100" spc="-25">
                <a:solidFill>
                  <a:srgbClr val="FFFFFF"/>
                </a:solidFill>
                <a:latin typeface="Lucida Sans Unicode"/>
                <a:cs typeface="Lucida Sans Unicode"/>
              </a:rPr>
              <a:t>Extend</a:t>
            </a:r>
            <a:r>
              <a:rPr dirty="0" sz="310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6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31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95">
                <a:solidFill>
                  <a:srgbClr val="FFFFFF"/>
                </a:solidFill>
                <a:latin typeface="Lucida Sans Unicode"/>
                <a:cs typeface="Lucida Sans Unicode"/>
              </a:rPr>
              <a:t>system</a:t>
            </a:r>
            <a:r>
              <a:rPr dirty="0" sz="31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31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100">
                <a:solidFill>
                  <a:srgbClr val="FFFFFF"/>
                </a:solidFill>
                <a:latin typeface="Lucida Sans Unicode"/>
                <a:cs typeface="Lucida Sans Unicode"/>
              </a:rPr>
              <a:t>demonstrate</a:t>
            </a:r>
            <a:r>
              <a:rPr dirty="0" sz="310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35">
                <a:solidFill>
                  <a:srgbClr val="FFFFFF"/>
                </a:solidFill>
                <a:latin typeface="Lucida Sans Unicode"/>
                <a:cs typeface="Lucida Sans Unicode"/>
              </a:rPr>
              <a:t>Inter-</a:t>
            </a:r>
            <a:r>
              <a:rPr dirty="0" sz="3100" spc="75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31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105">
                <a:solidFill>
                  <a:srgbClr val="FFFFFF"/>
                </a:solidFill>
                <a:latin typeface="Lucida Sans Unicode"/>
                <a:cs typeface="Lucida Sans Unicode"/>
              </a:rPr>
              <a:t>Communication</a:t>
            </a:r>
            <a:r>
              <a:rPr dirty="0" sz="3100" spc="-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165">
                <a:solidFill>
                  <a:srgbClr val="FFFFFF"/>
                </a:solidFill>
                <a:latin typeface="Lucida Sans Unicode"/>
                <a:cs typeface="Lucida Sans Unicode"/>
              </a:rPr>
              <a:t>(IPC) </a:t>
            </a:r>
            <a:r>
              <a:rPr dirty="0" sz="3100" spc="85">
                <a:solidFill>
                  <a:srgbClr val="FFFFFF"/>
                </a:solidFill>
                <a:latin typeface="Lucida Sans Unicode"/>
                <a:cs typeface="Lucida Sans Unicode"/>
              </a:rPr>
              <a:t>mechanisms.</a:t>
            </a:r>
            <a:endParaRPr sz="31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dirty="0" sz="3100" spc="55">
                <a:solidFill>
                  <a:srgbClr val="FFFFFF"/>
                </a:solidFill>
                <a:latin typeface="Lucida Sans Unicode"/>
                <a:cs typeface="Lucida Sans Unicode"/>
              </a:rPr>
              <a:t>Develop</a:t>
            </a:r>
            <a:r>
              <a:rPr dirty="0" sz="3100" spc="-11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375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31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114">
                <a:solidFill>
                  <a:srgbClr val="FFFFFF"/>
                </a:solidFill>
                <a:latin typeface="Lucida Sans Unicode"/>
                <a:cs typeface="Lucida Sans Unicode"/>
              </a:rPr>
              <a:t>complete</a:t>
            </a:r>
            <a:r>
              <a:rPr dirty="0" sz="31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65">
                <a:solidFill>
                  <a:srgbClr val="FFFFFF"/>
                </a:solidFill>
                <a:latin typeface="Lucida Sans Unicode"/>
                <a:cs typeface="Lucida Sans Unicode"/>
              </a:rPr>
              <a:t>Linux</a:t>
            </a:r>
            <a:r>
              <a:rPr dirty="0" sz="31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85">
                <a:solidFill>
                  <a:srgbClr val="FFFFFF"/>
                </a:solidFill>
                <a:latin typeface="Lucida Sans Unicode"/>
                <a:cs typeface="Lucida Sans Unicode"/>
              </a:rPr>
              <a:t>process</a:t>
            </a:r>
            <a:r>
              <a:rPr dirty="0" sz="31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>
                <a:solidFill>
                  <a:srgbClr val="FFFFFF"/>
                </a:solidFill>
                <a:latin typeface="Lucida Sans Unicode"/>
                <a:cs typeface="Lucida Sans Unicode"/>
              </a:rPr>
              <a:t>monitoring</a:t>
            </a:r>
            <a:r>
              <a:rPr dirty="0" sz="31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18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31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190">
                <a:solidFill>
                  <a:srgbClr val="FFFFFF"/>
                </a:solidFill>
                <a:latin typeface="Lucida Sans Unicode"/>
                <a:cs typeface="Lucida Sans Unicode"/>
              </a:rPr>
              <a:t>management</a:t>
            </a:r>
            <a:r>
              <a:rPr dirty="0" sz="31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-10">
                <a:solidFill>
                  <a:srgbClr val="FFFFFF"/>
                </a:solidFill>
                <a:latin typeface="Lucida Sans Unicode"/>
                <a:cs typeface="Lucida Sans Unicode"/>
              </a:rPr>
              <a:t>tool.</a:t>
            </a:r>
            <a:endParaRPr sz="3100">
              <a:latin typeface="Lucida Sans Unicode"/>
              <a:cs typeface="Lucida Sans Unicode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74470">
              <a:lnSpc>
                <a:spcPct val="100000"/>
              </a:lnSpc>
              <a:spcBef>
                <a:spcPts val="100"/>
              </a:spcBef>
            </a:pPr>
            <a:r>
              <a:rPr dirty="0" spc="-1650"/>
              <a:t>FUTURE</a:t>
            </a:r>
            <a:r>
              <a:rPr dirty="0" spc="-585"/>
              <a:t> </a:t>
            </a:r>
            <a:r>
              <a:rPr dirty="0" spc="-1330"/>
              <a:t>SCOPE</a:t>
            </a: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311558" y="0"/>
            <a:ext cx="2976442" cy="25706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57911" y="3993915"/>
            <a:ext cx="7572375" cy="229552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900" spc="-2110"/>
              <a:t>THANK</a:t>
            </a:r>
            <a:r>
              <a:rPr dirty="0" sz="14900" spc="-985"/>
              <a:t> </a:t>
            </a:r>
            <a:r>
              <a:rPr dirty="0" sz="14900" spc="-2460"/>
              <a:t>YOU</a:t>
            </a:r>
            <a:endParaRPr sz="14900"/>
          </a:p>
        </p:txBody>
      </p:sp>
      <p:grpSp>
        <p:nvGrpSpPr>
          <p:cNvPr id="3" name="object 3"/>
          <p:cNvGrpSpPr/>
          <p:nvPr/>
        </p:nvGrpSpPr>
        <p:grpSpPr>
          <a:xfrm>
            <a:off x="-2136" y="3656952"/>
            <a:ext cx="6768465" cy="6632575"/>
            <a:chOff x="-2136" y="3656952"/>
            <a:chExt cx="6768465" cy="66325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2136" y="4135689"/>
              <a:ext cx="6767902" cy="615344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659088"/>
              <a:ext cx="635" cy="35560"/>
            </a:xfrm>
            <a:custGeom>
              <a:avLst/>
              <a:gdLst/>
              <a:ahLst/>
              <a:cxnLst/>
              <a:rect l="l" t="t" r="r" b="b"/>
              <a:pathLst>
                <a:path w="635" h="35560">
                  <a:moveTo>
                    <a:pt x="0" y="0"/>
                  </a:moveTo>
                  <a:lnTo>
                    <a:pt x="253" y="20436"/>
                  </a:lnTo>
                  <a:lnTo>
                    <a:pt x="0" y="35170"/>
                  </a:lnTo>
                </a:path>
              </a:pathLst>
            </a:custGeom>
            <a:ln w="4272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 SATHVIKI</dc:creator>
  <cp:keywords>DAHNmMKVBE4,BAG0d2tJUH4</cp:keywords>
  <dc:title>Black and White Modern Tech Company Presentation</dc:title>
  <dcterms:created xsi:type="dcterms:W3CDTF">2026-08-29T03:50:42Z</dcterms:created>
  <dcterms:modified xsi:type="dcterms:W3CDTF">2026-08-29T03:50:42Z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2026-08-29T00:00:00Z</vt:filetime>
  </property>
  <property fmtid="{D5CDD505-2E9C-101B-9397-08002B2CF9AE}" pid="4" name="Creator">
    <vt:lpwstr>Canva</vt:lpwstr>
  </property>
  <property fmtid="{D5CDD505-2E9C-101B-9397-08002B2CF9AE}" pid="5" name="LastSaved">
    <vt:filetime>2026-08-29T00:00:00Z</vt:filetime>
  </property>
  <property fmtid="{D5CDD505-2E9C-101B-9397-08002B2CF9AE}" pid="6" name="Producer">
    <vt:lpwstr>Canva</vt:lpwstr>
  </property>
</Properties>
</file>